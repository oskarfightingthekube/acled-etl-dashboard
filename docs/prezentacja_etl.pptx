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169164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95728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Jak działa nasz ETL — od API do gwiazdy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45536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Dwa pipeline'y w Apache Airflow, warstwa po warstwie, z przykładami na naszych danych.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Segoe UI"/>
              </a:rPr>
              <a:t>ACLED  ·  2 669 419 zdarzeń  ·  1997–2025  ·  AWS (S3 + Glue + Athena)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7B"/>
                </a:solidFill>
                <a:latin typeface="Segoe UI"/>
              </a:rPr>
              <a:t>ściąga techniczna · lipiec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8B"/>
                </a:solidFill>
                <a:latin typeface="Segoe UI"/>
              </a:rPr>
              <a:t>Cały przepływ w jednym obrazku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ETL = Extract (pobierz) · Transform (przetwórz) · Load (załaduj)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1650949" cy="10515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ACLED API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źródło: zdarzenia</a:t>
            </a:r>
            <a:br/>
            <a:r>
              <a:rPr sz="1000">
                <a:solidFill>
                  <a:srgbClr val="FFFFFF"/>
                </a:solidFill>
                <a:latin typeface="Segoe UI"/>
              </a:rPr>
              <a:t>konfliktowe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4997" y="169621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6B7B"/>
                </a:solidFill>
                <a:latin typeface="Segoe UI"/>
              </a:rPr>
              <a:t>▶</a:t>
            </a:r>
          </a:p>
        </p:txBody>
      </p:sp>
      <p:sp>
        <p:nvSpPr>
          <p:cNvPr id="7" name="Rectangle 6"/>
          <p:cNvSpPr/>
          <p:nvPr/>
        </p:nvSpPr>
        <p:spPr>
          <a:xfrm>
            <a:off x="2355037" y="1371600"/>
            <a:ext cx="1650949" cy="1051560"/>
          </a:xfrm>
          <a:prstGeom prst="rect">
            <a:avLst/>
          </a:prstGeom>
          <a:solidFill>
            <a:srgbClr val="E08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BRONZE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surowe CSV,</a:t>
            </a:r>
            <a:br/>
            <a:r>
              <a:rPr sz="1000">
                <a:solidFill>
                  <a:srgbClr val="FFFFFF"/>
                </a:solidFill>
                <a:latin typeface="Segoe UI"/>
              </a:rPr>
              <a:t>append-only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8554" y="169621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6B7B"/>
                </a:solidFill>
                <a:latin typeface="Segoe U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8594" y="1371600"/>
            <a:ext cx="1650949" cy="10515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SILVER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Spark: dedup,</a:t>
            </a:r>
            <a:br/>
            <a:r>
              <a:rPr sz="1000">
                <a:solidFill>
                  <a:srgbClr val="FFFFFF"/>
                </a:solidFill>
                <a:latin typeface="Segoe UI"/>
              </a:rPr>
              <a:t>typy, Parquet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2111" y="169621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6B7B"/>
                </a:solidFill>
                <a:latin typeface="Segoe UI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2151" y="1371600"/>
            <a:ext cx="1650949" cy="1051560"/>
          </a:xfrm>
          <a:prstGeom prst="rect">
            <a:avLst/>
          </a:prstGeom>
          <a:solidFill>
            <a:srgbClr val="E08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GOLD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Athena: 1 szeroka</a:t>
            </a:r>
            <a:br/>
            <a:r>
              <a:rPr sz="1000">
                <a:solidFill>
                  <a:srgbClr val="FFFFFF"/>
                </a:solidFill>
                <a:latin typeface="Segoe UI"/>
              </a:rPr>
              <a:t>tabela analityczna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5668" y="169621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6B7B"/>
                </a:solidFill>
                <a:latin typeface="Segoe U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5708" y="1371600"/>
            <a:ext cx="1650949" cy="10515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GWIAZDA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fakt + 7 wymiarów</a:t>
            </a:r>
            <a:br/>
            <a:r>
              <a:rPr sz="1000">
                <a:solidFill>
                  <a:srgbClr val="FFFFFF"/>
                </a:solidFill>
                <a:latin typeface="Segoe UI"/>
              </a:rPr>
              <a:t>(klucze sztuczne)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9226" y="169621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6B7B"/>
                </a:solidFill>
                <a:latin typeface="Segoe U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29266" y="1371600"/>
            <a:ext cx="1650949" cy="1051560"/>
          </a:xfrm>
          <a:prstGeom prst="rect">
            <a:avLst/>
          </a:prstGeom>
          <a:solidFill>
            <a:srgbClr val="E08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POWER BI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model semantyczny</a:t>
            </a:r>
            <a:br/>
            <a:r>
              <a:rPr sz="1000">
                <a:solidFill>
                  <a:srgbClr val="FFFFFF"/>
                </a:solidFill>
                <a:latin typeface="Segoe UI"/>
              </a:rPr>
              <a:t>+ raporty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8B"/>
                </a:solidFill>
                <a:latin typeface="Segoe UI"/>
              </a:rPr>
              <a:t>Mini-przykład: jedno zdarzenie wędruje przez warstwy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113385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4612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API   : "YEM88423","2025-07-04","Yemen","Battles","3"          ← tekst CSV, w cudzysłowach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BRONZE: s3://mw-acled-bronze-dev/events/2026-07-04/page_001.csv   ← zapis 1:1, bez zmian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SILVER: event_id_cnty=YEM88423, event_date=DATE'2025-07-04', fatalities=3 (INT)   ← typy, dedup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GOLD  : + civilian_targeting_flag=0, interaction oczyszczone      ← wzbogacenie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FAKT  : id_date=20250704, id_country=213, id_event_type=2, fatalities=3   ← same klucze i miary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RAPORT: Yemen × lipiec 2025 × Battles → suma ofiar               ← Power BI liczy po gwieździe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8B"/>
                </a:solidFill>
                <a:latin typeface="Segoe UI"/>
              </a:rPr>
              <a:t>Co to jest DAG?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Directed Acyclic Graph — skierowany graf acykliczny = przepis na proces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8B"/>
                </a:solidFill>
                <a:latin typeface="Segoe UI"/>
              </a:rPr>
              <a:t>•  Węzły = zadania (taski), strzałki = kolejność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73936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Segoe UI"/>
              </a:rPr>
              <a:t>•  Directed: strzałka ma kierunek — najpierw silver, potem gold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Segoe UI"/>
              </a:rPr>
              <a:t>•  Acyclic: bez pętli — proces ma początek i koniec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61488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Segoe UI"/>
              </a:rPr>
              <a:t>•  Airflow czyta graf i sam wie: co po czym, co równolegle, gdzie stanąć przy błędzie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55264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Segoe UI"/>
              </a:rPr>
              <a:t>•  Każdy task ma własny log, status (kolor) i retry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280160"/>
            <a:ext cx="4937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35331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8B"/>
                </a:solidFill>
                <a:latin typeface="Segoe UI"/>
              </a:rPr>
              <a:t>graf zależności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682495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nasz acled_pipeline:</a:t>
            </a:r>
          </a:p>
          <a:p>
            <a:pPr algn="l"/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gold_events_wide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    │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    ├─ dim_country   ┐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    ├─ dim_actor     │ 7 wymiarów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    ├─ dim_source    │ RÓWNOLEGLE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    └─ ...           ┘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    │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fact_events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    │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Segoe UI"/>
              </a:rPr>
              <a:t>Jedno zdanie dla prowadzącej: „DAG to definicja pipeline'u — zadania i zależności bez cykli; dzięki temu Airflow pilnuje kolejności, równoległości i błędów za nas.”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8B"/>
                </a:solidFill>
                <a:latin typeface="Segoe UI"/>
              </a:rPr>
              <a:t>DAG 1: acled_manual_backfill — ekstrakcja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pobiera NOWE dane z API do bronze i przerabia je na silver · ~7–8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delete_load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37160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pobiera rejestr zdarzeń WYCOFANYCH przez ACLED (będą usunięte w silver)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56816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event_load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956816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OAuth do API → pobór przyrostowy stronami po 5 000 wierszy → CSV do bronze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4203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check_new_data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42032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ShortCircuit: 0 nowych wierszy → STOP, dalsze taski się nie wykonują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272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run_bronze_crawler_*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127248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Glue Crawler skanuje S3 i dopisuje nowe partycje do katalogu metadanych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12464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silver_transform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712464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job Spark: deduplikacja + usunięcie wycofanych + typowanie → Parquet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8B"/>
                </a:solidFill>
                <a:latin typeface="Segoe UI"/>
              </a:rPr>
              <a:t>Mini-przykład: czemu delete_load i event_load NIE lecą równolegle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11155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0F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937759"/>
            <a:ext cx="108813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ACLED przy wydaniu nowego tokena UNIEWAŻNIA poprzedni. Dwa taski logujące się naraz = szybszy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zabija token wolniejszego = HTTP 401 w środku pobierania (mieliśmy to!). Fix: taski sekwencyjnie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+ automatyczny re-login przy 401.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8B"/>
                </a:solidFill>
                <a:latin typeface="Segoe UI"/>
              </a:rPr>
              <a:t>Przyrostowość — skąd system wie, co jest nowe?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watermark = znacznik czasu ostatniego pobrania, plik na S3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155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881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8B"/>
                </a:solidFill>
                <a:latin typeface="Segoe UI"/>
              </a:rPr>
              <a:t>jak to działa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28216"/>
            <a:ext cx="1088135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s3://mw-acled-bronze-dev/state/last_run_timestamp.txt  →  1783150011  (unix ts)</a:t>
            </a:r>
          </a:p>
          <a:p>
            <a:pPr algn="l"/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zapytanie do API:  ...&amp;timestamp=1783150011&amp;timestamp_where=&gt;=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                 „daj wszystko, co ZMIENIŁO SIĘ po tym momencie”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po sukcesie:       znacznik := teraz   → następny run zacznie od tego miejsca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155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8B"/>
                </a:solidFill>
                <a:latin typeface="Segoe UI"/>
              </a:rPr>
              <a:t>•  timestamp = data MODYFIKACJI rekordu, nie data zdarzenia!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33088"/>
            <a:ext cx="11155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dlatego dzienny pobór to ~30 stron (150 tys. wierszy): nowe zdarzenia + tysiące KOREKT starych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08576"/>
            <a:ext cx="11155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korekta nie duplikuje: dedup w silver zostawia najnowszą wersję zdarzenia (SCD typ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84064"/>
            <a:ext cx="11155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nic nowego? → ShortCircuit kończy DAG: „brak nowych danych — crawlery i silver pominięte”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59552"/>
            <a:ext cx="11155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embargo: darmowe konto dostaje dane sprzed 12 miesięcy — dziś najnowsze zdarzenie ma datę 2025-07-04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8B"/>
                </a:solidFill>
                <a:latin typeface="Segoe UI"/>
              </a:rPr>
              <a:t>Bronze i Silver — od brudnego do czystego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8B"/>
                </a:solidFill>
                <a:latin typeface="Segoe UI"/>
              </a:rPr>
              <a:t>BRONZE — księga przychodów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surowe CSV dokładnie jak ze źródła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84832"/>
            <a:ext cx="5486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append-only: nigdy nie nadpisujemy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23744"/>
            <a:ext cx="5486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folder = data pobrania (nie data zdarzeń!)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62656"/>
            <a:ext cx="5486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pełna odtwarzalność wyższych warstw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8B"/>
                </a:solidFill>
                <a:latin typeface="Segoe UI"/>
              </a:rPr>
              <a:t>SILVER — czysta prawda (Spark)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486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deduplikacja po event_id_cnty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84832"/>
            <a:ext cx="5486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anti-join z rejestrem deletes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23744"/>
            <a:ext cx="5486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typowanie: INT, DATE zamiast tekstu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62656"/>
            <a:ext cx="5486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zapis Parquet (kolumnowy, szybki)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8B"/>
                </a:solidFill>
                <a:latin typeface="Segoe UI"/>
              </a:rPr>
              <a:t>Mini-przykład deduplikacji (SCD typ 1 — najnowsza wersja wygrywa):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11155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23359"/>
            <a:ext cx="10881359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bronze (3 wersje tego samego zdarzenia):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YEM88423  2025-07-04  fatalities=1   timestamp=1751600000   ← pierwsza publikacja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YEM88423  2025-07-04  fatalities=3   timestamp=1751790000   ← korekta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YEM88423  2025-07-04  fatalities=3   timestamp=1783100000   ← korekta korekty</a:t>
            </a:r>
          </a:p>
          <a:p>
            <a:pPr algn="l"/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silver (po dedup):  YEM88423  fatalities=3  ← tylko wiersz z najnowszym timestampem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8B"/>
                </a:solidFill>
                <a:latin typeface="Segoe UI"/>
              </a:rPr>
              <a:t>DAG 2: acled_pipeline — transformacja i ładowanie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z silver buduje gold i gwiazdę, na końcu walidacja · bez Glue ~1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crawl_bronze, silver_transform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37160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OPCJONALNE (param run_glue) — tylko gdy bronze zmienił się poza backfill'em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56816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gold_events_wide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956816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Athena CTAS: 1 szeroka tabela analityczna z silver + czyszczenie + flagi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4203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dim_country … dim_date (7×)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42032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wymiary gwiazdy RÓWNOLEGLE: klucz sztuczny + wiersz Unknown(-1)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272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fact_events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127248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tabela faktów: lookup kluczy przez LEFT JOIN + COALESCE(-1), tylko klucze i miary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12464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712464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rekoncyliacja: silver == gold == fakt (liczba zdarzeń ORAZ suma ofiar)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8B"/>
                </a:solidFill>
                <a:latin typeface="Segoe UI"/>
              </a:rPr>
              <a:t>Mini-przykład: idempotencja (DROP + wyczyszczenie S3 + CREATE) — sprawdzone dziś w nocy: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11155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937759"/>
            <a:ext cx="108813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run #1 (04:32):  fact_events = 2 669 419 wierszy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run #2 (09:43):  fact_events = 2 669 419 wierszy   ← identycznie co do wiersza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               → pipeline można puszczać dowolnie często, zero duplikatów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8B"/>
                </a:solidFill>
                <a:latin typeface="Segoe UI"/>
              </a:rPr>
              <a:t>Warstwa gold — po co, skoro jest silver?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jedna szeroka tabela pod analizy: wzbogacona i do końca oczyszczona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8B"/>
                </a:solidFill>
                <a:latin typeface="Segoe UI"/>
              </a:rPr>
              <a:t>•  silver = wierna kopia źródła po czyszczeniu; gold = tabela ZBUDOWANA POD PYTANIA biznesowe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7393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dokładamy flagi analityczne, np. civilian_targeting_flag: tekst → 0/1 (łatwe sumowanie w BI)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czyścimy pseudo-nulle: puste stringi i śmieciowe cudzysłowy → prawdziwe NULL-e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80360"/>
            <a:ext cx="11155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53512"/>
            <a:ext cx="10881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8B"/>
                </a:solidFill>
                <a:latin typeface="Segoe UI"/>
              </a:rPr>
              <a:t>przykłady transformacji (SQL w CTAS)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82696"/>
            <a:ext cx="108813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CASE WHEN civilian_targeting = 'Civilian targeting' THEN 1 ELSE 0 END  AS civilian_targeting_flag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NULLIF(trim(replace(interaction, '"', '')), '')                        AS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50F15"/>
                </a:solidFill>
                <a:latin typeface="Segoe UI"/>
              </a:rPr>
              <a:t>Historia z projektu — czemu walidacja liczb ma znaczenie: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00600"/>
            <a:ext cx="11155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0F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8813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Czytanie bronze przez Athenę gubiło cudzysłowione liczby: suma ofiar 324 225 zamiast 2 346 707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(7× za mało!). Spark parsował dobrze → gold budujemy z silver. Wykryte właśnie rekoncyliacją.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8B"/>
                </a:solidFill>
                <a:latin typeface="Segoe UI"/>
              </a:rPr>
              <a:t>Po co gwiazda? Fakt i wymiary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schemat pod analizy: mały fakt z liczbami, opisy w wymiarach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760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8B"/>
                </a:solidFill>
                <a:latin typeface="Segoe UI"/>
              </a:rPr>
              <a:t>jeden wiersz faktu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28216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fact_events (2 669 419 wierszy):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id_date        = 20250704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id_country     = 213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id_event_type  = 2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id_actor       = 4411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fatalities     = 3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→ same liczby, zero tekstu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325880"/>
            <a:ext cx="52120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39903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8B"/>
                </a:solidFill>
                <a:latin typeface="Segoe UI"/>
              </a:rPr>
              <a:t>wymiary tłumaczą klucze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728216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dim_country: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id_country=213 → Yemen, Middle East</a:t>
            </a:r>
          </a:p>
          <a:p>
            <a:pPr algn="l"/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dim_event_type: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id_event_type=2 → Battles /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onsolas"/>
              </a:rPr>
              <a:t>  Armed clash / Political violence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11155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8B"/>
                </a:solidFill>
                <a:latin typeface="Segoe UI"/>
              </a:rPr>
              <a:t>•  fakt wąski = szybkie agregacje na milionach wierszy; opisy trzymamy RAZ w małych wymiarach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98848"/>
            <a:ext cx="11155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filtr „Yemen” = jeden JOIN po kluczu INT — nie skan tekstów po 2,7 mln wierszy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74336"/>
            <a:ext cx="11155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hierarchie (Region→Kraj, Rok→Kwartał→Miesiąc) i drill-down w Power BI wynikają wprost z wymiarów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49824"/>
            <a:ext cx="11155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wymiar zdegenerowany: event_id_cnty zostaje w fakcie (unikalny per wiersz — osobna tabela bez sensu)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8B"/>
                </a:solidFill>
                <a:latin typeface="Segoe UI"/>
              </a:rPr>
              <a:t>Wymiary — trzy decyzje, o które pyta się najczęściej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8B"/>
                </a:solidFill>
                <a:latin typeface="Segoe UI"/>
              </a:rPr>
              <a:t>1. Klucze sztuczne (surogaty) — ROW_NUMBER(), niezależne od danych źródłowych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155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8813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SELECT ROW_NUMBER() OVER (ORDER BY iso) AS id_country, iso, country, region FROM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8B"/>
                </a:solidFill>
                <a:latin typeface="Segoe UI"/>
              </a:rPr>
              <a:t>2. Wiersz Unknown(-1) — pseudo-nulle nie wypadają z raportów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11155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108813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zdarzenie bez aktora → w fakcie id_actor = -1  (COALESCE przy lookupie)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dim_actor ma wiersz: (-1, 'Unknown')  → raport pokaże kategorię 'Unknown' zamiast gubić wiersze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8B"/>
                </a:solidFill>
                <a:latin typeface="Segoe UI"/>
              </a:rPr>
              <a:t>3. dim_date — smart key + OSOBNE kolumny opisowe (pytanie z konsultacji!)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155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800600"/>
            <a:ext cx="108813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id_date = 20250704 (INT yyyymmdd)  ← JEDNA kolumna, tylko ona siedzi w fakcie (relacja)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obok:  date_key=2025-07-04, year=2025, quarter=3, month=7, month_name='July'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kalendarz CIĄGŁY 1997–2025 (10 592 dni) — wymóg funkcji czasowych Power BI (YoY, Mark as date table)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8B"/>
                </a:solidFill>
                <a:latin typeface="Segoe UI"/>
              </a:rPr>
              <a:t>Co to są miary?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liczby, które się agreguje — w fakcie i w modelu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8B"/>
                </a:solidFill>
                <a:latin typeface="Segoe UI"/>
              </a:rPr>
              <a:t>•  w FAKCIE: kolumny addytywne — fatalities (sumowalna po każdym wymiarze) + zliczanie wierszy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7393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8B"/>
                </a:solidFill>
                <a:latin typeface="Segoe UI"/>
              </a:rPr>
              <a:t>•  w POWER BI: miary DAX — formuły liczone dynamicznie W KONTEKŚCIE filtrów, nie osobne kolumny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11155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50592"/>
            <a:ext cx="10881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8B"/>
                </a:solidFill>
                <a:latin typeface="Segoe UI"/>
              </a:rPr>
              <a:t>przykłady miar DAX z naszego modelu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79776"/>
            <a:ext cx="108813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Total Events        = COUNTROWS(fact_events)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Total Fatalities    = SUM(fact_events[fatalities])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Fatalities / Event  = DIVIDE([Total Fatalities], [Total Events])   ← DIVIDE = bezpieczne /0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% Civilian Target.  = DIVIDE(CALCULATE([Total Events], flaga=1), [Total Events])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8B"/>
                </a:solidFill>
                <a:latin typeface="Segoe UI"/>
              </a:rPr>
              <a:t>Mini-przykład kontekstu — JEDNA miara, różne odpowiedzi: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3440"/>
            <a:ext cx="11155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754879"/>
            <a:ext cx="108813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[Total Events] bez filtrów            → 2 669 419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[Total Events] slicer: Yemen          → tylko zdarzenia Jemenu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[Total Events] Yemen + rok 2024       → jeszcze węziej — ta sama formuła, kontekst robi robotę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8B"/>
                </a:solidFill>
                <a:latin typeface="Segoe UI"/>
              </a:rPr>
              <a:t>Walidacja — skąd wiemy, że nic nie zginęło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ostatni task każdego runu; rozjazd = czerwony DAG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155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881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8B"/>
                </a:solidFill>
                <a:latin typeface="Segoe UI"/>
              </a:rPr>
              <a:t>task validate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28216"/>
            <a:ext cx="108813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SELECT 'silver', count(*), sum(fatalities) FROM silver_events_full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UNION ALL SELECT 'gold',  count(*), sum(fatalities) FROM gold_events_wide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UNION ALL SELECT 'fact',  count(*), sum(fatalities) FROM fact_events</a:t>
            </a:r>
          </a:p>
          <a:p>
            <a:pPr algn="l"/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&gt;&gt; silver: 2 669 419 zdarzeń   2 346 707 ofiar      ← log z dzisiejszego runu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&gt;&gt; gold  : 2 669 419 zdarzeń   2 346 707 ofiar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&gt;&gt; fact  : 2 669 419 zdarzeń   2 346 707 ofiar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onsolas"/>
              </a:rPr>
              <a:t>&gt;&gt; OK: silver == gold == fact — warstwy spójne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1155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8B"/>
                </a:solidFill>
                <a:latin typeface="Segoe UI"/>
              </a:rPr>
              <a:t>•  DWIE metryki naraz: liczba zdarzeń ORAZ suma ofiar — sama liczba wierszy nie wykryje zepsutych wartości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155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porównujemy WARSTWY między sobą, nie z zapisaną liczbą — świeży ingest nie psuje walidacji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21808"/>
            <a:ext cx="11155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dodatkowy bezpiecznik: fakt musi mieć &gt; 2,6 mln wierszy (ochrona przed pustą tabelą)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97296"/>
            <a:ext cx="11155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Segoe UI"/>
              </a:rPr>
              <a:t>•  assert nie przejdzie → task czerwony → od razu widać, że danych nie wolno używać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6F8B"/>
                </a:solidFill>
                <a:latin typeface="Segoe UI"/>
              </a:rPr>
              <a:t>Nasz pokaz — sekwencja i co mówić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1. licznik (terminal)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0440" y="1371600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stan PRZED: 2 669 096 zdarzeń, najnowsze 2025-06-29 — hurtownia „wczorajsza”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7510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2. acled_manual_backfill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975104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Trigger (full=false) → w logach na żywo: strony z API, ShortCircuit, crawlery, silver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78608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3. acled_pipeline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578608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po zielonym: Trigger (run_glue=false) → gold, wymiary, fakt, validate (~1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8211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4. licznik skacze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182112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▲ +323 nowych zdarzeń, najnowsza data 2025-07-04, świeże wpisy w tabeli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6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5. puenta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785616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idempotencja + walidacja: „możemy uruchomić ponownie — wynik identyczny”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F8B"/>
                </a:solidFill>
                <a:latin typeface="Segoe UI"/>
              </a:rPr>
              <a:t>Szybkie odpowiedzi: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1115568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Czemu dane sprzed roku? — 12-miesięczne embargo źródła; pipeline codziennie dociąga „dziś minus rok”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58383"/>
            <a:ext cx="1115568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Czemu ~30 stron poboru? — korekty wsteczne; dedup w silver zostawia najnowszą wersję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79006"/>
            <a:ext cx="1115568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Co przy drugim uruchomieniu? — idempotencja: DROP+CREATE, wynik co do wiersza ten sam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