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69164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95728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Jak działa nasz ETL — od API do gwiazdy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45536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Dwa pipeline'y w Apache Airflow, warstwa po warstwie, z przykładami na naszych danych.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Segoe UI"/>
              </a:rPr>
              <a:t>ACLED  ·  2 669 419 zdarzeń  ·  1997–2025  ·  AWS (S3 + Glue + Athena)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7B"/>
                </a:solidFill>
                <a:latin typeface="Segoe UI"/>
              </a:rPr>
              <a:t>ściąga techniczna · lipiec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Cały przepływ w jednym obrazku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ETL = Extract (pobierz) · Transform (przetwórz) · Load (załaduj)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650949" cy="105156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ACLED API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Segoe UI"/>
              </a:rPr>
              <a:t>źródło: zdarzenia</a:t>
            </a:r>
            <a:br/>
            <a:r>
              <a:rPr sz="1000">
                <a:solidFill>
                  <a:srgbClr val="FFFFFF"/>
                </a:solidFill>
                <a:latin typeface="Segoe UI"/>
              </a:rPr>
              <a:t>konfliktowe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4997" y="16962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6B7B"/>
                </a:solidFill>
                <a:latin typeface="Segoe UI"/>
              </a:rPr>
              <a:t>▶</a:t>
            </a:r>
          </a:p>
        </p:txBody>
      </p:sp>
      <p:sp>
        <p:nvSpPr>
          <p:cNvPr id="7" name="Rectangle 6"/>
          <p:cNvSpPr/>
          <p:nvPr/>
        </p:nvSpPr>
        <p:spPr>
          <a:xfrm>
            <a:off x="2355037" y="1371600"/>
            <a:ext cx="1650949" cy="10515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BRONZE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Segoe UI"/>
              </a:rPr>
              <a:t>surowe CSV,</a:t>
            </a:r>
            <a:br/>
            <a:r>
              <a:rPr sz="1000">
                <a:solidFill>
                  <a:srgbClr val="FFFFFF"/>
                </a:solidFill>
                <a:latin typeface="Segoe UI"/>
              </a:rPr>
              <a:t>append-only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8554" y="16962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6B7B"/>
                </a:solidFill>
                <a:latin typeface="Segoe UI"/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8594" y="1371600"/>
            <a:ext cx="1650949" cy="105156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SILVER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Segoe UI"/>
              </a:rPr>
              <a:t>Spark: dedup,</a:t>
            </a:r>
            <a:br/>
            <a:r>
              <a:rPr sz="1000">
                <a:solidFill>
                  <a:srgbClr val="FFFFFF"/>
                </a:solidFill>
                <a:latin typeface="Segoe UI"/>
              </a:rPr>
              <a:t>typy, Parquet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2111" y="16962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6B7B"/>
                </a:solidFill>
                <a:latin typeface="Segoe UI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2151" y="1371600"/>
            <a:ext cx="1650949" cy="10515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GOLD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Segoe UI"/>
              </a:rPr>
              <a:t>Athena: 1 szeroka</a:t>
            </a:r>
            <a:br/>
            <a:r>
              <a:rPr sz="1000">
                <a:solidFill>
                  <a:srgbClr val="FFFFFF"/>
                </a:solidFill>
                <a:latin typeface="Segoe UI"/>
              </a:rPr>
              <a:t>tabela analityczna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5668" y="16962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6B7B"/>
                </a:solidFill>
                <a:latin typeface="Segoe UI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5708" y="1371600"/>
            <a:ext cx="1650949" cy="105156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GWIAZDA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Segoe UI"/>
              </a:rPr>
              <a:t>fakt + 7 wymiarów</a:t>
            </a:r>
            <a:br/>
            <a:r>
              <a:rPr sz="1000">
                <a:solidFill>
                  <a:srgbClr val="FFFFFF"/>
                </a:solidFill>
                <a:latin typeface="Segoe UI"/>
              </a:rPr>
              <a:t>(klucze sztuczne)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9226" y="16962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6B7B"/>
                </a:solidFill>
                <a:latin typeface="Segoe U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29266" y="1371600"/>
            <a:ext cx="1650949" cy="10515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POWER BI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Segoe UI"/>
              </a:rPr>
              <a:t>model semantyczny</a:t>
            </a:r>
            <a:br/>
            <a:r>
              <a:rPr sz="1000">
                <a:solidFill>
                  <a:srgbClr val="FFFFFF"/>
                </a:solidFill>
                <a:latin typeface="Segoe UI"/>
              </a:rPr>
              <a:t>+ raporty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Mini-przykład: jedno zdarzenie wędruje przez warstwy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54680"/>
            <a:ext cx="11338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246120"/>
            <a:ext cx="11064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API   : "YEM88423","2025-07-04","Yemen","Battles","3"          ← tekst CSV, w cudzysłowach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BRONZE: s3://mw-acled-bronze-dev/events/2026-07-04/page_001.csv   ← zapis 1:1, bez zmian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SILVER: event_id_cnty=YEM88423, event_date=DATE'2025-07-04', fatalities=3 (INT)   ← typy, dedup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GOLD  : + civilian_targeting_flag=0, interaction oczyszczone      ← wzbogacenie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FAKT  : id_date=20250704, id_country=213, id_event_type=2, fatalities=3   ← same klucze i miary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RAPORT: Yemen × lipiec 2025 × Battles → suma ofiar               ← Power BI liczy po gwieździe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Co to jest DAG?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Directed Acyclic Graph — skierowany graf acykliczny = przepis na proces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Węzły = zadania (taski), strzałki = kolejność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73936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Directed: strzałka ma kierunek — najpierw silver, potem gold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Acyclic: bez pętli — proces ma początek i koniec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61488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Airflow czyta graf i sam wie: co po czym, co równolegle, gdzie stanąć przy błędzie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55264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Każdy task ma własny log, status (kolor) i retry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280160"/>
            <a:ext cx="49377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graf zależności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82495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nasz acled_pipeline:</a:t>
            </a: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gold_events_wide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│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├─ dim_country   ┐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├─ dim_actor     │ 7 wymiarów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├─ dim_source    │ RÓWNOLEGLE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└─ ...           ┘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│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fact_events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│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Segoe UI"/>
              </a:rPr>
              <a:t>Jedno zdanie dla prowadzącej: „DAG to definicja pipeline'u — zadania i zależności bez cykli; dzięki temu Airflow pilnuje kolejności, równoległości i błędów za nas.”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DAG 1: acled_manual_backfill — ekstrakcja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pobiera NOWE dane z API do bronze i przerabia je na silver · ~7–8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delete_load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37160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pobiera rejestr zdarzeń WYCOFANYCH przez ACLED (będą usunięte w silver)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event_load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956816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OAuth do API → pobór przyrostowy stronami po 5 000 wierszy → CSV do 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42032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check_new_data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42032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ShortCircuit: 0 nowych wierszy → STOP, dalsze taski się nie wykonują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run_bronze_crawler_*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127248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Glue Crawler skanuje S3 i dopisuje nowe partycje do katalogu metadanych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12464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silver_transform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712464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job Spark: deduplikacja + usunięcie wycofanych + typowanie → Parquet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Mini-przykład: czemu delete_load i event_load NIE lecą równolegle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937759"/>
            <a:ext cx="108813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ACLED przy wydaniu nowego tokena UNIEWAŻNIA poprzedni. Dwa taski logujące się naraz = szybszy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zabija token wolniejszego = HTTP 401 w środku pobierania (mieliśmy to!). Fix: taski sekwencyjnie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+ automatyczny re-login przy 401.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Przyrostowość — skąd system wie, co jest nowe?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watermark = znacznik czasu ostatniego pobrania, plik na S3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556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jak to działa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1088135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s3://mw-acled-bronze-dev/state/last_run_timestamp.txt  →  1783150011  (unix ts)</a:t>
            </a: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zapytanie do API:  ...&amp;timestamp=1783150011&amp;timestamp_where=&gt;=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             „daj wszystko, co ZMIENIŁO SIĘ po tym momencie”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po sukcesie:       znacznik := teraz   → następny run zacznie od tego miejsca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timestamp = data MODYFIKACJI rekordu, nie data zdarzenia!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33088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dlatego dzienny pobór to ~30 stron (150 tys. wierszy): nowe zdarzenia + tysiące KOREKT starych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08576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korekta nie duplikuje: dedup w silver zostawia najnowszą wersję zdarzenia (SCD typ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84064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nic nowego? → ShortCircuit kończy DAG: „brak nowych danych — crawlery i silver pominięte”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59552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embargo: darmowe konto dostaje dane sprzed 12 miesięcy — dziś najnowsze zdarzenie ma datę 2025-07-04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Bronze i Silver — od brudnego do czystego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BRONZE — księga przychodów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surowe CSV dokładnie jak ze źródła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84832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append-only: nigdy nie nadpisujemy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3744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folder = data pobrania (nie data zdarzeń!)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62656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pełna odtwarzalność wyższych warstw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SILVER — czysta prawda (Spark)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deduplikacja po event_id_cnty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084832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anti-join z rejestrem deletes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23744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typowanie: INT, DATE zamiast tekstu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62656"/>
            <a:ext cx="54864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zapis Parquet (kolumnowy, szybki)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Mini-przykład deduplikacji (SCD typ 1 — najnowsza wersja wygrywa):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111556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23359"/>
            <a:ext cx="10881359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bronze (3 wersje tego samego zdarzenia):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YEM88423  2025-07-04  fatalities=1   timestamp=1751600000   ← pierwsza publikacja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YEM88423  2025-07-04  fatalities=3   timestamp=1751790000   ← korekta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YEM88423  2025-07-04  fatalities=3   timestamp=1783100000   ← korekta korekty</a:t>
            </a: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silver (po dedup):  YEM88423  fatalities=3  ← tylko wiersz z najnowszym timestampem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DAG 2: acled_pipeline — transformacja i ładowanie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z silver buduje gold i gwiazdę, na końcu walidacja · bez Glue ~1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crawl_bronze, silver_transform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37160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OPCJONALNE (param run_glue) — tylko gdy bronze zmienił się poza backfill'em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gold_events_wide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956816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Athena CTAS: 1 szeroka tabela analityczna z silver + czyszczenie + flagi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42032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dim_country … dim_date (7×)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42032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wymiary gwiazdy RÓWNOLEGLE: klucz sztuczny + wiersz Unknown(-1)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fact_events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127248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tabela faktów: lookup kluczy przez LEFT JOIN + COALESCE(-1), tylko klucze i miary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12464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712464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rekoncyliacja: silver == gold == fakt (liczba zdarzeń ORAZ suma ofiar)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Mini-przykład: idempotencja (DROP + wyczyszczenie S3 + CREATE) — sprawdzone dziś w nocy: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937759"/>
            <a:ext cx="108813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run #1 (04:32):  fact_events = 2 669 419 wierszy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run #2 (09:43):  fact_events = 2 669 419 wierszy   ← identycznie co do wiersza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               → pipeline można puszczać dowolnie często, zero duplikatów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Warstwa gold — po co, skoro jest silver?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jedna szeroka tabela pod analizy: wzbogacona i do końca oczyszczona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silver = wierna kopia źródła po czyszczeniu; gold = tabela ZBUDOWANA POD PYTANIA biznesowe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73936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dokładamy flagi analityczne, np. civilian_targeting_flag: tekst → 0/1 (łatwe sumowanie w BI)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czyścimy pseudo-nulle: puste stringi i śmieciowe cudzysłowy → prawdziwe NULL-e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1155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5351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przykłady transformacji (SQL w CTAS)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82696"/>
            <a:ext cx="1088135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CASE WHEN civilian_targeting = 'Civilian targeting' THEN 1 ELSE 0 END  AS civilian_targeting_flag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NULLIF(trim(replace(interaction, '"', '')), '')                        AS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50F15"/>
                </a:solidFill>
                <a:latin typeface="Segoe UI"/>
              </a:rPr>
              <a:t>Historia z projektu — czemu walidacja liczb ma znaczenie: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00600"/>
            <a:ext cx="11155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892040"/>
            <a:ext cx="108813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Czytanie bronze przez Athenę gubiło cudzysłowione liczby: suma ofiar 324 225 zamiast 2 346 707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(7× za mało!). Spark parsował dobrze → gold budujemy z silver. Wykryte właśnie rekoncyliacją.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Po co gwiazda? Fakt i wymiary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schemat pod analizy: mały fakt z liczbami, opisy w wymiarach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7607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jeden wiersz faktu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fact_events (2 669 419 wierszy):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id_date        = 20250704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id_country     = 213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id_event_type  = 2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id_actor       = 4411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fatalities     = 3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→ same liczby, zero tekstu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325880"/>
            <a:ext cx="52120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9903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wymiary tłumaczą klucze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728216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dim_country: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id_country=213 → Yemen, Middle East</a:t>
            </a: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dim_event_type: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id_event_type=2 → Battles /</a:t>
            </a:r>
          </a:p>
          <a:p>
            <a:pPr algn="l"/>
            <a:r>
              <a:rPr sz="1300" b="0">
                <a:solidFill>
                  <a:srgbClr val="1A1A2E"/>
                </a:solidFill>
                <a:latin typeface="Consolas"/>
              </a:rPr>
              <a:t>  Armed clash / Political violence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fakt wąski = szybkie agregacje na milionach wierszy; opisy trzymamy RAZ w małych wymiarach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98848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filtr „Yemen” = jeden JOIN po kluczu INT — nie skan tekstów po 2,7 mln wierszy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74336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hierarchie (Region→Kraj, Rok→Kwartał→Miesiąc) i drill-down w Power BI wynikają wprost z wymiarów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9824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wymiar zdegenerowany: event_id_cnty zostaje w fakcie (unikalny per wiersz — osobna tabela bez sensu)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Wymiary — trzy decyzje, o które pyta się najczęściej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1. Klucze sztuczne (surogaty) — ROW_NUMBER(), niezależne od danych źródłowych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155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813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SELECT ROW_NUMBER() OVER (ORDER BY iso) AS id_country, iso, country, region FROM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2. Wiersz Unknown(-1) — pseudo-nulle nie wypadają z raportów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111556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1088135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zdarzenie bez aktora → w fakcie id_actor = -1  (COALESCE przy lookupie)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dim_actor ma wiersz: (-1, 'Unknown')  → raport pokaże kategorię 'Unknown' zamiast gubić wiersze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3. dim_date — smart key + OSOBNE kolumny opisowe (pytanie z konsultacji!)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11155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800600"/>
            <a:ext cx="108813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id_date = 20250704 (INT yyyymmdd)  ← JEDNA kolumna, tylko ona siedzi w fakcie (relacja)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obok:  date_key=2025-07-04, year=2025, quarter=3, month=7, month_name='July'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kalendarz CIĄGŁY 1997–2025 (10 592 dni) — wymóg funkcji czasowych Power BI (YoY, Mark as date table)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Co to są miary?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liczby, które się agreguje — w fakcie i w modelu Power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w FAKCIE: kolumny addytywne — fatalities (sumowalna po każdym wymiarze) + zliczanie wierszy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73936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w POWER BI: miary DAX — formuły liczone dynamicznie W KONTEKŚCIE filtrów, nie osobne kolumny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11155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5059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przykłady miar DAX z naszego modelu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79776"/>
            <a:ext cx="108813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Total Events        = COUNTROWS(fact_events)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Total Fatalities    = SUM(fact_events[fatalities])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Fatalities / Event  = DIVIDE([Total Fatalities], [Total Events])   ← DIVIDE = bezpieczne /0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% Civilian Target.  = DIVIDE(CALCULATE([Total Events], flaga=1), [Total Events])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Mini-przykład kontekstu — JEDNA miara, różne odpowiedzi: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3440"/>
            <a:ext cx="111556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54879"/>
            <a:ext cx="108813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[Total Events] bez filtrów            → 2 669 419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[Total Events] slicer: Yemen          → tylko zdarzenia Jemenu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[Total Events] Yemen + rok 2024       → jeszcze węziej — ta sama formuła, kontekst robi robotę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Walidacja — skąd wiemy, że nic nie zginęło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ostatni task każdego runu; rozjazd = czerwony DAG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55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task validate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108813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SELECT 'silver', count(*), sum(fatalities) FROM silver_events_full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UNION ALL SELECT 'gold',  count(*), sum(fatalities) FROM gold_events_wide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UNION ALL SELECT 'fact',  count(*), sum(fatalities) FROM fact_events</a:t>
            </a:r>
          </a:p>
          <a:p>
            <a:pPr algn="l"/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&gt;&gt; silver: 2 669 419 zdarzeń   2 346 707 ofiar      ← log z dzisiejszego runu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&gt;&gt; gold  : 2 669 419 zdarzeń   2 346 707 ofiar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&gt;&gt; fact  : 2 669 419 zdarzeń   2 346 707 ofiar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&gt;&gt; OK: silver == gold == fact — warstwy spójne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DWIE metryki naraz: liczba zdarzeń ORAZ suma ofiar — sama liczba wierszy nie wykryje zepsutych wartości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porównujemy WARSTWY między sobą, nie z zapisaną liczbą — świeży ingest nie psuje walidacji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21808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dodatkowy bezpiecznik: fakt musi mieć &gt; 2,6 mln wierszy (ochrona przed pustą tabelą)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97296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assert nie przejdzie → task czerwony → od razu widać, że danych nie wolno używać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Nasz pokaz — sekwencja i co mówić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1. licznik (terminal)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20440" y="1371600"/>
            <a:ext cx="8138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stan PRZED: 2 669 096 zdarzeń, najnowsze 2025-06-29 — hurtownia „wczorajsza”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75104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2. acled_manual_backfill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975104"/>
            <a:ext cx="8138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Trigger (full=false) → w logach na żywo: strony z API, ShortCircuit, crawlery, silver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3. acled_pipeline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578608"/>
            <a:ext cx="8138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po zielonym: Trigger (run_glue=false) → gold, wymiary, fakt, validate (~1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82112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4. licznik skacze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182112"/>
            <a:ext cx="8138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▲ +323 nowych zdarzeń, najnowsza data 2025-07-04, świeże wpisy w tabeli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6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5. puenta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785616"/>
            <a:ext cx="8138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idempotencja + walidacja: „możemy uruchomić ponownie — wynik identyczny”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Szybkie odpowiedzi: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1155680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Czemu dane sprzed roku? — 12-miesięczne embargo źródła; pipeline codziennie dociąga „dziś minus rok”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58383"/>
            <a:ext cx="11155680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Czemu ~30 stron poboru? — korekty wsteczne; dedup w silver zostawia najnowszą wersję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79006"/>
            <a:ext cx="11155680" cy="612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Co przy drugim uruchomieniu? — idempotencja: DROP+CREATE, wynik co do wiersza ten sam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46304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803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Część 2: pod maską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słowniczek pojęć + jak NAPRAWDĘ wygląda kod i dane na każdym etapie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Słowniczek 1 — klocki AWS, których używamy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8346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20440" y="1371600"/>
            <a:ext cx="813816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magazyn plików w chmurze; bucket = „dysk”, prefix = „folder”. U nas 3 buckety: bronze / silver / gold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28346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Glue Data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148840"/>
            <a:ext cx="813816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spis tabel: jakie kolumny, typy, gdzie pliki na S3. Sam w sobie NIE trzyma danych — tylko metadane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8346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Glue Crawler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926080"/>
            <a:ext cx="813816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robot: skanuje pliki na S3 i aktualizuje katalog (nowe partycje, schemat)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28346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Glue Job (Spark)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703320"/>
            <a:ext cx="813816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zarządzany Spark: AWS stawia klaster, puszcza nasz skrypt, gasi. Płacimy za minuty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28346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Athena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4480560"/>
            <a:ext cx="813816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silnik SQL, który czyta pliki PROSTO z S3 (przez katalog Glue). Bez serwera bazy danych — płacimy za przeskanowane dane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57800"/>
            <a:ext cx="28346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Airflow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5257800"/>
            <a:ext cx="813816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orkiestrator: harmonogram + kolejność tasków + logi + retry. Sam NIC nie liczy — deleguje do Glue/Athena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Słowniczek 2 — CSV vs Parquet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dlaczego silver/gold trzymamy w Parquet, a nie CSV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5778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bronze: 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CSV (wierszowy, tekst):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id,data,kraj,ofiary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YEM1,2025-07-04,Yemen,3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YEM2,2025-07-04,Yemen,0</a:t>
            </a:r>
          </a:p>
          <a:p>
            <a:pPr algn="l"/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wszystko to TEKST — '3' to znak,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typy zgaduje czytający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32588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9903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silver/gold: Parquet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28216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Parquet (kolumnowy, binarny):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[kolumna id  ] YEM1 YEM2 ...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[kolumna data] 2025-07-04 ...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[kolumna ofiary INT] 3 0 ...</a:t>
            </a:r>
          </a:p>
          <a:p>
            <a:pPr algn="l"/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typy WBUDOWANE w plik +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kompresja per kolumna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zapytanie „SUM(ofiary)” czyta z Parquet TYLKO kolumnę ofiar — z CSV musi przeczytać całe pliki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53127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Athena płaci za przeskanowane bajty → Parquet = szybciej ORAZ taniej (kompresja kolumnowa)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28615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typy w pliku = koniec zgadywania; to zgadywanie z CSV zaniżyło nam kiedyś ofiary 7-krotnie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04103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CSV zostaje w bronze celowo: to wierna kopia tego, co przysłało źródło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Słowniczek 3 — pojęcia procesowe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medallion (bronze/silver/gold)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20440" y="1280160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architektura warstw: surowe → oczyszczone → analityczne. Każda warstwa odtwarzalna z poprzedniej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watermark (znacznik)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901952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zapamiętany punkt „dokąd doszliśmy” — u nas unix timestamp w pliku na 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23744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SCD typ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523744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Slowly Changing Dimension: nowa wersja NADPISUJE starą (bez historii zmian). Nasz dedup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anti-join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145536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zostaw wiersze, które NIE mają pary w drugiej tabeli — tak usuwamy zdarzenia z rejestru deletes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67328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CTAS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767328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CREATE TABLE AS SELECT — jedno zapytanie tworzy tabelę Z WYNIKIEM selecta (pliki lądują na S3)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idempotencja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389120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operacja puszczona N razy daje ten sam wynik co raz. U nas: DROP + wyczyść S3 + CREATE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ShortCircuit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5010912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task-bramka w Airflow: warunek fałszywy → pomija resztę DAG-a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32704"/>
            <a:ext cx="28346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XCom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632704"/>
            <a:ext cx="8138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kanał między taskami Airflow: event_load przekazuje liczbę wierszy do check_new_data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Pod maską: logowanie i pobór z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OAuth 2.0 password grant — nasz main/src/client.py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55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dialog z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108813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POST https://acleddata.com/oauth/token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username=..., password=..., grant_type=password, client_id=acled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← {"access_token": "eyJ0eXAiOiJK...", "refresh_token": "...", "expires_in": 86400}</a:t>
            </a:r>
          </a:p>
          <a:p>
            <a:pPr algn="l"/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GET  https://acleddata.com/api/acled/read?_format=csv&amp;page=1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&amp;timestamp=1783150011&amp;timestamp_where=&gt;=          ← przyrostowość!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nagłówek:  Authorization: Bearer eyJ0eXAiOiJK...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OAuth: hasło wymieniamy RAZ na token; potem każde zapytanie niesie token w nagłówku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15968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token żyje 24 h; ACLED unieważnia stary przy wydaniu nowego → u nas re-login przy 401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91456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paginacja: strony po 5 000 wierszy, pętla aż przyjdzie pusta strona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66944"/>
            <a:ext cx="111556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expires_in = sekundy życia tokena; Bearer = „okaziciel” — kto ma token, ten ma dostęp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Pod maską: silver_transform (PySpark)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dedup + usunięcie wycofanych + typy — sedno jobu Glue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556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logika (uproszczona) — main/glue/silver_transform.py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10881359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okno = Window.partitionBy('event_id_cnty').orderBy(desc('timestamp'))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silver = (bronze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.withColumn('rn', row_number().over(okno))   # ponumeruj wersje zdarzenia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.filter('rn = 1')                            # zostaw najnowszą (SCD typ 1)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.join(deletes, 'event_id_cnty', 'left_anti') # wytnij wycofane przez ACLED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.withColumn('fatalities', col('fatalities').cast('int'))   # typy!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.withColumn('event_date', col('event_date').cast('date')))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silver.write.mode('overwrite').parquet('s3://mw-acled-silver-dev/events/')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partitionBy = grupuj po zdarzeniu; orderBy desc = najnowsza wersja dostaje rn=1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left_anti = anti-join: zostają tylko zdarzenia BEZ pary w rejestrze deletes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Spark liczy to rozproszenie na klastrze Glue — dlatego 2,7 mln wierszy w ~4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Pod maską: gold i gwiazda (Athena CTAS)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każda tabela = DROP + wyczyszczenie prefixu + CREATE TABLE AS SELECT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556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wymiar — main/sql/10_star_schema.sql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1088135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DROP TABLE IF EXISTS acled_dev.dim_country;            -- 1. usuń definicję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-- 2. skasuj pliki: s3://mw-acled-gold-dev/star/dim_country/   (boto3)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CREATE TABLE acled_dev.dim_country                      -- 3. zbuduj od nowa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WITH (format='PARQUET',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 external_location='s3://mw-acled-gold-dev/star/dim_country/') AS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SELECT ROW_NUMBER() OVER (ORDER BY iso) AS id_country, iso, country, region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FROM (... GROUP BY iso)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UNION ALL SELECT -1, NULL, 'Unknown', 'Unknown';        -- wiersz na braki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60520"/>
            <a:ext cx="11155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23367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fakt — lookup surogatów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62856"/>
            <a:ext cx="108813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SELECT COALESCE(dc.id_country,-1) id_country, COALESCE(dd.id_date,-1) id_date, ...,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  g.fatalities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FROM gold_events_wide g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LEFT JOIN dim_country dc ON g.iso = dc.iso          -- lookup klucza naturalnego → surogat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LEFT JOIN dim_date dd ON ... ;                      -- LEFT: żadnego wiersza nie gubimy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6F8B"/>
                </a:solidFill>
                <a:latin typeface="Segoe UI"/>
              </a:rPr>
              <a:t>Pod maską: jak wygląda kod DAG-a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772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Python; @task = funkcja staje się zadaniem w grafie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155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99032"/>
            <a:ext cx="10881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8B"/>
                </a:solidFill>
                <a:latin typeface="Segoe UI"/>
              </a:rPr>
              <a:t>airflow/dags/acled_pipeline.py (skrót)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28216"/>
            <a:ext cx="108813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@dag(dag_id='acled_pipeline', schedule=None,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params={'run_glue': Param(False, type='boolean')})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def pipeline():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@task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def gold_events_wide():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   _rebuild('gold_events_wide', 'events_wide/', GOLD_EVENTS_WIDE)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@task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def validate():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    ...assert stats['silver'] == stats['gold'] == stats['fact']</a:t>
            </a:r>
          </a:p>
          <a:p>
            <a:pPr algn="l"/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gold &gt;&gt; dims          # strzałki grafu: najpierw gold, potem wymiary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dims &gt;&gt; fact          # fakt czeka na WSZYSTKIE wymiary</a:t>
            </a:r>
          </a:p>
          <a:p>
            <a:pPr algn="l"/>
            <a:r>
              <a:rPr sz="1200" b="0">
                <a:solidFill>
                  <a:srgbClr val="1A1A2E"/>
                </a:solidFill>
                <a:latin typeface="Consolas"/>
              </a:rPr>
              <a:t>    fact &gt;&gt; validate()    # walidacja zawsze na końcu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operator &gt;&gt; rysuje strzałki grafu — z tego Airflow wie o kolejności i równoległości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Param = pole w formularzu przy Trigger (nasze run_glue); schedule=None = tylko ręczne uruchomienie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kod DAG-a to definicja, nie wykonanie — taski odpala scheduler w osobnych procesach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