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2194560"/>
            <a:ext cx="12191695" cy="1691640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2395728"/>
            <a:ext cx="1072865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>
                <a:solidFill>
                  <a:srgbClr val="FFFFFF"/>
                </a:solidFill>
                <a:latin typeface="Segoe UI"/>
              </a:rPr>
              <a:t>Hurtownia danych ACLED — przegląd realizacji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731520" y="3127248"/>
            <a:ext cx="10728655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FFFFFF"/>
                </a:solidFill>
                <a:latin typeface="Segoe UI"/>
              </a:rPr>
              <a:t>Przedstawiamy, jak zrealizowaliśmy poszczególne wymagania,</a:t>
            </a:r>
          </a:p>
          <a:p>
            <a:pPr algn="l"/>
            <a:r>
              <a:rPr sz="1700" b="0">
                <a:solidFill>
                  <a:srgbClr val="FFFFFF"/>
                </a:solidFill>
                <a:latin typeface="Segoe UI"/>
              </a:rPr>
              <a:t>i prosimy o ocenę oraz wskazanie poprawek.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4343400"/>
            <a:ext cx="10728655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  <a:latin typeface="Segoe UI"/>
              </a:rPr>
              <a:t>Oskar Mikołajczak  ·  Maciej Krzywicki  ·  Karol Samorański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172200"/>
            <a:ext cx="1072865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6B6B7B"/>
                </a:solidFill>
                <a:latin typeface="Segoe UI"/>
              </a:rPr>
              <a:t>Integracja danych i hurtownie danych · lipiec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Co zrealizowaliśmy — przegląd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Pytania biznesowe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120640" y="132588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12 pytań; każde ma odpowiedź w raporcie Power BI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196596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Schemat gwiazdy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120640" y="196596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fakt + 7 wymiarów, klucze sztuczne, integralność zweryfikowana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260604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Procesy ETL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120640" y="260604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Apache Airflow + Glue + Athena; uruchamiane na żywo, walidowane automatycznie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324612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Warstwa semantyczna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120640" y="324612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model Power BI: relacje, miary DAX, hierarchie, tabela dat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388620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Raporty z wykresami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20640" y="388620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9 stron: dashboard + strony analityczne — pokaz na żywo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48640" y="452628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Tabela mapowań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20640" y="452628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docs/etl_mapowania.md — źródło → transformacja → cel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48640" y="5166360"/>
            <a:ext cx="448056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Screeny ładowań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20640" y="5166360"/>
            <a:ext cx="6949440" cy="58521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13 zrzutów: każdy wymiar, fakt, walidacja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5943600"/>
            <a:ext cx="1115568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A50F15"/>
                </a:solidFill>
                <a:latin typeface="Segoe UI"/>
              </a:rPr>
              <a:t>Ocena należy do Pani — na końcu lista decyzji, o których weryfikację prosimy.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Dane źródłowe i pytania biznesowe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ACLED (API): 2 669 294 zdarzeń, 1997–2025, 242 kraje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00784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dane realne, niegenerowane; embargo źródła 12 mies.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121408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World Bank: populacja kraj×rok (per capita)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542032"/>
            <a:ext cx="576072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•  wspólny klucz: ISO 3166-1 numeric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46120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1. Kraje/regiony i dominujące typy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30168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2. Ofiary na mapie; ofiary na zdarzenie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014216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3. Trendy per typ niepokoju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4398264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4. Sezonowość (zdarzenia i ofiary)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48640" y="4782312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5. Najbardziej śmiertelne typy + średnia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5166360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6. Protesty pokojowe vs przemoc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17920" y="3246120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7. Aktorzy w czasie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217920" y="3630168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8. Interakcje: częstość i ofiary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217920" y="4014216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9. % celowania w cywilów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17920" y="4398264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10. Źródła: lokalne vs międzynarodowe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17920" y="4782312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11. Wzrosty rok-do-roku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17920" y="5166360"/>
            <a:ext cx="5394960" cy="5577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1A1A2E"/>
                </a:solidFill>
                <a:latin typeface="Segoe UI"/>
              </a:rPr>
              <a:t>•  12. Per capita i zmiana rankingu</a:t>
            </a:r>
          </a:p>
        </p:txBody>
      </p:sp>
      <p:sp>
        <p:nvSpPr>
          <p:cNvPr id="20" name="Rectangle 19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zakres i liczba pytań są odpowiednie?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Schemat gwiazdy</a:t>
            </a:r>
          </a:p>
        </p:txBody>
      </p:sp>
      <p:pic>
        <p:nvPicPr>
          <p:cNvPr id="4" name="Picture 3" descr="star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0218" y="1005840"/>
            <a:ext cx="6791259" cy="475488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prosimy o weryfikację schematu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Schemat gwiazdy — decyzje projektowe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Hurtownia jednotematyczna → czysta gwiazda (bez bus matrix)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7830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Fakt: tylko klucze wymiarów + miary addytywne; wyjątek: event_id_cnty jako wymiar zdegenerowany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402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Klucze sztuczne (ROW_NUMBER; data = yyyymmdd); interaction jako pełny wymiar (134 wartości)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6974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Pseudo-nulle → wiersz „Unknown” (id = -1) w każdym wymiarze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1546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dim_date: ciągły kalendarz 1997–2025 (funkcje czasowe Power BI)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611880"/>
            <a:ext cx="11155680" cy="6309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Populacja: klucz złożony (iso, rok) spłaszczony do iso_year; relacja dwukierunkowa — filtr kraju musi docierać do populacji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akceptuje Pani: wymiar zdegenerowany, klucz iso_year z relacją dwukierunkową, współrzędne geo poza gwiazdą?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Procesy ETL — architektura</a:t>
            </a:r>
          </a:p>
        </p:txBody>
      </p:sp>
      <p:pic>
        <p:nvPicPr>
          <p:cNvPr id="4" name="Picture 3" descr="architectur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2168415"/>
            <a:ext cx="11460175" cy="2429730"/>
          </a:xfrm>
          <a:prstGeom prst="rect">
            <a:avLst/>
          </a:prstGeom>
        </p:spPr>
      </p:pic>
      <p:sp>
        <p:nvSpPr>
          <p:cNvPr id="5" name="Rectangle 4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stack AWS + Airflow + Power BI jest właściwym zamiennikiem SSIS/SSAS/SSRS?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Tabela mapowań (skrót)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pełna wersja: docs/etl_mapowania.md — każda kolumna: źródło → transformacja → cel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417320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E: API → bronze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749039" y="1417320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Python, OAuth, przyrostowo po znaczniku czasu; surowe CSV, append-only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075688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T: bronze → silver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749039" y="2075688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Glue/Spark: deduplikacja (SCD typ 1), rejestr usunięć, typowanie, Parquet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734056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T: silver → gold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749039" y="2734056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Athena CTAS: integracja źródeł, flaga cywilów, czyszczenie pseudo-nulli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392424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L: gold → wymiary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49039" y="3392424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klucze sztuczne + wiersz Unknown; kalendarz z sequence()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4050792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L: → fakt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749039" y="4050792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lookup surogatów; wyłącznie klucze i miary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709160"/>
            <a:ext cx="310896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Walidacja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749039" y="4709160"/>
            <a:ext cx="8321040" cy="60350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rekoncyliacja warstw: silver == gold == fakt (zdarzenia oraz ofiary)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taka forma tabeli mapowań odpowiada wzorowi z Materiałów?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ETL uruchamiany na żywo — Airflow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pełny przebieg: crawler → Spark → gold → gwiazda → walidacja; kroki idempotentne — możemy uruchomić przy Pani</a:t>
            </a:r>
          </a:p>
        </p:txBody>
      </p:sp>
      <p:pic>
        <p:nvPicPr>
          <p:cNvPr id="5" name="Picture 4" descr="01_gra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26183" y="1234440"/>
            <a:ext cx="8339328" cy="521208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Dowody ładowania wymiarów i faktów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komplet 13 zrzutów w repozytorium (katalog screeny/)</a:t>
            </a:r>
          </a:p>
        </p:txBody>
      </p:sp>
      <p:pic>
        <p:nvPicPr>
          <p:cNvPr id="5" name="Picture 4" descr="12_fact_even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5760" y="1611630"/>
            <a:ext cx="5669280" cy="3543300"/>
          </a:xfrm>
          <a:prstGeom prst="rect">
            <a:avLst/>
          </a:prstGeom>
        </p:spPr>
      </p:pic>
      <p:pic>
        <p:nvPicPr>
          <p:cNvPr id="6" name="Picture 5" descr="13_validat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72200" y="1611630"/>
            <a:ext cx="5669280" cy="354330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365760" y="54864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6B7B"/>
                </a:solidFill>
                <a:latin typeface="Segoe UI"/>
              </a:rPr>
              <a:t>ładowanie faktów — SUCCESS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72200" y="5486400"/>
            <a:ext cx="566928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300" b="0">
                <a:solidFill>
                  <a:srgbClr val="6B6B7B"/>
                </a:solidFill>
                <a:latin typeface="Segoe UI"/>
              </a:rPr>
              <a:t>walidacja rekoncyliacji — SUCCESS</a:t>
            </a:r>
          </a:p>
        </p:txBody>
      </p:sp>
      <p:sp>
        <p:nvSpPr>
          <p:cNvPr id="9" name="Rectangle 8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zrzuty z zadań Airflow spełniają wymóg „momentu udanej operacji ładowania”?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Jakość danych — wykryte i naprawione problemy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7160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Cudzysłowy w CSV niszczyły kolumny liczbowe przy odczycie — suma ofiar 7× zaniżona; wykryte rekoncyliacją dwóch ścieżek liczenia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2267712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Cast tekstowej kolumny interaction do INT kasował ją w silverze — obejście z warstwy bronze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74320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Pseudo-nulle → Unknown(-1); dziurawy kalendarz → ciągły sequence()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3218688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Wniosek: walidacja automatyczna po każdym uruchomieniu — liczba zdarzeń ORAZ suma ofiar, między warstwami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4114800"/>
            <a:ext cx="111556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Test odporności: świeży przyrost danych (+198 zdarzeń) przetworzony bez zmian w kodzie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Warstwa semantyczna — model Power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325880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Import gwiazdy „na płasko” przez ODBC/Athena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01368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7 relacji wiele-do-jednego; wymiar filtruje fakt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276856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Miary DAX: SUM, DIVIDE, CALCULATE, DATEADD, DISTINCTCOUNT, RANKX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752344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3 hierarchie z drążeniem; miesiące chronologicznie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227832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dim_date jako tabela dat; klucze ukryte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3703320"/>
            <a:ext cx="6126480" cy="64922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Jeden model odpowiada na wszystkie 12 pytań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40880" y="1417320"/>
            <a:ext cx="4663440" cy="3931920"/>
          </a:xfrm>
          <a:prstGeom prst="rect">
            <a:avLst/>
          </a:prstGeom>
          <a:solidFill>
            <a:srgbClr val="FFFFFF"/>
          </a:solidFill>
          <a:ln>
            <a:solidFill>
              <a:srgbClr val="1F6F8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315200" y="1645920"/>
            <a:ext cx="41148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F6F8B"/>
                </a:solidFill>
                <a:latin typeface="Segoe UI"/>
              </a:rPr>
              <a:t>Zgodność ze skryptem zajęć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0" y="2148840"/>
            <a:ext cx="4114800" cy="3017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najpierw model, potem wykresy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tryb Import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DIVIDE zamiast dzielenia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miary zamiast kolumn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formaty i foldery miar</a:t>
            </a:r>
          </a:p>
          <a:p>
            <a:pPr algn="l"/>
            <a:r>
              <a:rPr sz="1400" b="0">
                <a:solidFill>
                  <a:srgbClr val="1A1A2E"/>
                </a:solidFill>
                <a:latin typeface="Segoe UI"/>
              </a:rPr>
              <a:t>ukryte pola techniczne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model Power BI jest akceptowalny jako warstwa semantyczna (zamiast SSAS)?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Raporty — pokaz na żywo w Power BI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57200" y="841248"/>
            <a:ext cx="11277295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9 stron: Dashboard + strony analityczne pokrywające wszystkie 12 pytań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371600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00 Dashboard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480560" y="1371600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karty KPI, trend, struktura, TOP-y; nawigacja i slicery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1975104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01–02 Geografia, Trendy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80560" y="1975104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mapa ofiar, drążenie kraj→typ, trendy per typ niepokoju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2578608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03–04 Sezonowość, Typy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480560" y="2578608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mapa ciepła miesiąc×rok, średnie ofiar na zdarzenie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3182112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05–06 Aktorzy, Cywile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80560" y="3182112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TOP aktorów w czasie, % celowania w cywilów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48640" y="3785616"/>
            <a:ext cx="384048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1A1A2E"/>
                </a:solidFill>
                <a:latin typeface="Segoe UI"/>
              </a:rPr>
              <a:t>07–08 Eskalacja, Per capita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80560" y="3785616"/>
            <a:ext cx="75895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6B6B7B"/>
                </a:solidFill>
                <a:latin typeface="Segoe UI"/>
              </a:rPr>
              <a:t>skoki rok-do-roku, odwrócenie rankingu per capita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4663440"/>
            <a:ext cx="1115568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1F6F8B"/>
                </a:solidFill>
                <a:latin typeface="Segoe UI"/>
              </a:rPr>
              <a:t>•  Mechaniki z zajęć: slicery zsynchronizowane · drążenie · formatowanie warunkowe · interakcje · sortowanie chronologiczne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57200" y="5897880"/>
            <a:ext cx="11277295" cy="685800"/>
          </a:xfrm>
          <a:prstGeom prst="rect">
            <a:avLst/>
          </a:prstGeom>
          <a:solidFill>
            <a:srgbClr val="FFFFFF"/>
          </a:solidFill>
          <a:ln w="15875">
            <a:solidFill>
              <a:srgbClr val="A50F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400" b="1">
                <a:solidFill>
                  <a:srgbClr val="A50F15"/>
                </a:solidFill>
                <a:latin typeface="Segoe UI"/>
              </a:rPr>
              <a:t>PYTANIE:  czy układ raportu (dashboard + strona na pytanie) odpowiada oczekiwaniom?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Decyzje, o których weryfikację prosimy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280160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1F6F8B"/>
                </a:solidFill>
                <a:latin typeface="Segoe UI"/>
              </a:rPr>
              <a:t>•  1. Poprawność schematu gwiazdy (prosimy o formalne sprawdzenie)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847088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2. Stack: Airflow + Athena/S3 + Power BI zamiast SSIS/SSAS/SSRS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414016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3. event_id_cnty jako wymiar zdegenerowany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2980944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4. Klucz iso_year i relacja dwukierunkowa do populacji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48640" y="3547872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5. Rejestrowanie historii: SCD typ 1 + rejestr usunięć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48640" y="4114800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6. Rok 2025 niepełny (embargo źródła) — odcinamy w trendach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48640" y="4681728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7. Kosowo bez kodu ISO numeric — 0,4% zdarzeń bez per capita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5248656"/>
            <a:ext cx="11155680" cy="74066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>
                <a:solidFill>
                  <a:srgbClr val="1A1A2E"/>
                </a:solidFill>
                <a:latin typeface="Segoe UI"/>
              </a:rPr>
              <a:t>•  8. Pod-pytanie Q10 (liczność źródeł per zdarzenie) — poza zakresem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7F7F5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46304"/>
          </a:xfrm>
          <a:prstGeom prst="rect">
            <a:avLst/>
          </a:prstGeom>
          <a:solidFill>
            <a:srgbClr val="1F6F8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457200" y="274320"/>
            <a:ext cx="112772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700" b="1">
                <a:solidFill>
                  <a:srgbClr val="1F6F8B"/>
                </a:solidFill>
                <a:latin typeface="Segoe UI"/>
              </a:rPr>
              <a:t>Podsumowanie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48640" y="1463040"/>
            <a:ext cx="11155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1F6F8B"/>
                </a:solidFill>
                <a:latin typeface="Segoe UI"/>
              </a:rPr>
              <a:t>•  Zrealizowaliśmy wszystkie części projektu i przygotowaliśmy dowody każdej z nich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48640" y="1993392"/>
            <a:ext cx="11155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  <a:latin typeface="Segoe UI"/>
              </a:rPr>
              <a:t>•  Całość w repozytorium: kod, SQL, DAG-i, model Power BI jako kod, diagramy, dokumentacja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2523744"/>
            <a:ext cx="11155680" cy="70408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1A1A2E"/>
                </a:solidFill>
                <a:latin typeface="Segoe UI"/>
              </a:rPr>
              <a:t>•  Chętnie pokażemy wszystko na żywo: Airflow, Athena, Power BI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4206240"/>
            <a:ext cx="109728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1F6F8B"/>
                </a:solidFill>
                <a:latin typeface="Segoe UI"/>
              </a:rPr>
              <a:t>Prosimy o ocenę i wskazanie poprawek — chcemy je nanieść przed oddaniem.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