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8288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Hurtownia danych ACLED — realizacja wymagań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Wszystkie punkty wymagań zrealizowane — przedstawiamy dowody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i prosimy o weryfikację decyzji projektowych.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Segoe UI"/>
              </a:rPr>
              <a:t>Oskar Mikołajczak  ·  Maciej Krzywicki  ·  Karol Samorański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Integracja danych i hurtownie danych · lipiec 2026 · repo: github.com/mac-v/acled-etl-dashboard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Status wymagań — komplet zrealizowany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5+5+20+10+10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53312"/>
            <a:ext cx="384048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3258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Pytania biznesowe (5 pkt)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1325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12 pytań, każde z odpowiedzią w raporcie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20824"/>
            <a:ext cx="384048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93392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Schemat gwiazdy (5 pkt)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9933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czysta gwiazda: fakt + 7 wymiarów, klucze sztuczne, 0 sierot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88336"/>
            <a:ext cx="384048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660904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ETL na żywo (20 pkt)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66090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Airflow: 2 DAG-i, idempotentne, walidacja automatyczna — demo live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55848"/>
            <a:ext cx="384048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328416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Warstwa semantyczna (10 pkt)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3328416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model Power BI: 7 relacji, 15+ miar DAX, hierarchie, tabela dat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99592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Raporty z wykresami (10 pkt)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3995928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9 stron: dashboard + strona per pytanie, slicery, drill-down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690872"/>
            <a:ext cx="384048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6344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Zadanie: tabela mapowań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46634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docs/etl_mapowania.md — źródło→transformacja→cel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58384"/>
            <a:ext cx="384048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330952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Zadanie: screeny ładowań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533095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13 zrzutów: każdy wymiar + fakt + walidacja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50F15"/>
                </a:solidFill>
                <a:latin typeface="Segoe UI"/>
              </a:rPr>
              <a:t>Prosimy o ocenę i wskazanie, co ewentualnie poprawić — lista pytań na końcu.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Dane źródłowe i 12 pytań biznesowych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wymóg 1–3 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2E"/>
                </a:solidFill>
                <a:latin typeface="Segoe UI"/>
              </a:rPr>
              <a:t>• ACLED (API, OAuth) — realne dane o konfliktach</a:t>
            </a:r>
          </a:p>
          <a:p>
            <a:r>
              <a:rPr sz="1300" b="0">
                <a:solidFill>
                  <a:srgbClr val="6B6B7B"/>
                </a:solidFill>
                <a:latin typeface="Segoe UI"/>
              </a:rPr>
              <a:t>   – 2 669 294 zdarzeń · 1997–2025 · 242 kraje</a:t>
            </a:r>
          </a:p>
          <a:p>
            <a:r>
              <a:rPr sz="1300" b="0">
                <a:solidFill>
                  <a:srgbClr val="6B6B7B"/>
                </a:solidFill>
                <a:latin typeface="Segoe UI"/>
              </a:rPr>
              <a:t>   – źródło publikuje z 12-mies. embargiem (znanym z góry)</a:t>
            </a:r>
          </a:p>
          <a:p>
            <a:r>
              <a:rPr sz="1500" b="1">
                <a:solidFill>
                  <a:srgbClr val="1A1A2E"/>
                </a:solidFill>
                <a:latin typeface="Segoe UI"/>
              </a:rPr>
              <a:t>• World Bank SP.POP.TOTL — populacja (per capita)</a:t>
            </a:r>
          </a:p>
          <a:p>
            <a:r>
              <a:rPr sz="1300" b="0">
                <a:solidFill>
                  <a:srgbClr val="6B6B7B"/>
                </a:solidFill>
                <a:latin typeface="Segoe UI"/>
              </a:rPr>
              <a:t>   – integracja po kodzie ISO 3166-1 numeric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  <a:latin typeface="Segoe UI"/>
              </a:rPr>
              <a:t>• 1. Kraje/regiony + dominujące typy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2. Ofiary na mapie; ofiary na zdarzenie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3. Trend per typ niepokoju (rok+miesiąc)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4. Sezonowość (zdarzenia i ofiary)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5. Najbardziej śmiertelne typy + średnia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6. Protesty pokojowe vs przemoc + trend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38328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  <a:latin typeface="Segoe UI"/>
              </a:rPr>
              <a:t>• 7. Aktorzy: zdarzenia, ofiary, aktywność w czasie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8. Interakcje — najczęstsze i najkrwawsze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9. % celowania w cywilów: regiony i aktorzy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10. Źródła lokalne vs międzynarodowe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11. Największe wzrosty rok-do-roku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12. Per capita — odwrócenie rankingu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zakres pytań jest wystarczający?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Schemat gwiazdy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wymóg ✔</a:t>
            </a:r>
          </a:p>
        </p:txBody>
      </p:sp>
      <p:pic>
        <p:nvPicPr>
          <p:cNvPr id="5" name="Picture 4" descr="star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868" y="1051560"/>
            <a:ext cx="6725959" cy="4709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prosimy o formalną weryfikację schematu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Schemat gwiazdy — decyzje projektowe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do oceny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2E"/>
                </a:solidFill>
                <a:latin typeface="Segoe UI"/>
              </a:rPr>
              <a:t>• Hurtownia JEDNOTEMATYCZNA (jeden fakt) → czysta gwiazda, bez bus matrix</a:t>
            </a:r>
          </a:p>
          <a:p>
            <a:r>
              <a:rPr sz="1500" b="0">
                <a:solidFill>
                  <a:srgbClr val="1A1A2E"/>
                </a:solidFill>
                <a:latin typeface="Segoe UI"/>
              </a:rPr>
              <a:t>• Fakt = wyłącznie klucze wymiarów + miary addytywne (fatalities, flaga 0/1)</a:t>
            </a:r>
          </a:p>
          <a:p>
            <a:r>
              <a:rPr sz="1300" b="0">
                <a:solidFill>
                  <a:srgbClr val="6B6B7B"/>
                </a:solidFill>
                <a:latin typeface="Segoe UI"/>
              </a:rPr>
              <a:t>   – wyjątek: event_id_cnty jako wymiar zdegenerowany (liczność = liczność faktu — jak NrZamówienia z wykładu)</a:t>
            </a:r>
          </a:p>
          <a:p>
            <a:r>
              <a:rPr sz="1500" b="0">
                <a:solidFill>
                  <a:srgbClr val="1A1A2E"/>
                </a:solidFill>
                <a:latin typeface="Segoe UI"/>
              </a:rPr>
              <a:t>• Klucze sztuczne we wszystkich wymiarach (ROW_NUMBER; klucz daty = yyyymmdd)</a:t>
            </a:r>
          </a:p>
          <a:p>
            <a:r>
              <a:rPr sz="1500" b="0">
                <a:solidFill>
                  <a:srgbClr val="1A1A2E"/>
                </a:solidFill>
                <a:latin typeface="Segoe UI"/>
              </a:rPr>
              <a:t>• interaction = normalny wymiar (134 wartości — za mała liczność na zdegenerowany)</a:t>
            </a:r>
          </a:p>
          <a:p>
            <a:r>
              <a:rPr sz="1500" b="0">
                <a:solidFill>
                  <a:srgbClr val="1A1A2E"/>
                </a:solidFill>
                <a:latin typeface="Segoe UI"/>
              </a:rPr>
              <a:t>• Pseudo-nulle → wiersz „Unknown" (id = −1) w każdym wymiarze</a:t>
            </a:r>
          </a:p>
          <a:p>
            <a:r>
              <a:rPr sz="1500" b="0">
                <a:solidFill>
                  <a:srgbClr val="1A1A2E"/>
                </a:solidFill>
                <a:latin typeface="Segoe UI"/>
              </a:rPr>
              <a:t>• dim_date = ciągły kalendarz 1997–2025 (wymóg time-intelligence Power BI)</a:t>
            </a:r>
          </a:p>
          <a:p>
            <a:r>
              <a:rPr sz="1500" b="0">
                <a:solidFill>
                  <a:srgbClr val="1A1A2E"/>
                </a:solidFill>
                <a:latin typeface="Segoe UI"/>
              </a:rPr>
              <a:t>• populacja: klucz złożony (iso, rok) spłaszczony do iso_year (relacje PBI 1-kolumnowe); relacja Both — inaczej filtr kraju nie dociera do populacji</a:t>
            </a:r>
          </a:p>
          <a:p>
            <a:r>
              <a:rPr sz="1500" b="1">
                <a:solidFill>
                  <a:srgbClr val="1A1A2E"/>
                </a:solidFill>
                <a:latin typeface="Segoe UI"/>
              </a:rPr>
              <a:t>• Zasady z wykładu: ≤25 wymiarów ✔ (7) · fakt ~160× większy od największego wymiaru ✔ · miary sumowalne 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akceptuje Pani: degenerate event_id_cnty · klucz iso_year + relacja Both · lat/long poza gwiazdą (zostały w gold)?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ETL — architektura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wymóg 20 pkt ✔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1275"/>
            <a:ext cx="11460175" cy="242973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stack AWS + Airflow + Power BI jako zamiennik SSIS/SSAS/SSRS — zgodny z dokumentem ARCHITEKTURA?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ETL — tabela mapowań (skrót)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pełna wersja: docs/etl_mapowania.md — każda kolumna: źródło → transformacja → cel</a:t>
            </a:r>
          </a:p>
        </p:txBody>
      </p:sp>
      <p:sp>
        <p:nvSpPr>
          <p:cNvPr id="5" name="Rectangle 4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zadanie 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E: API → bronze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41732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Python, OAuth, paginacja, przyrostowo po timestamp; CSV append-only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T1: bronze → silver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14884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Glue/Spark: dedup (najnowszy timestamp = SCD typ 1), anti-join deletes, typowanie, Parquet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T2: silver+bronze → gold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88036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Athena CTAS: integracja, flaga cywilów, czyszczenie pseudo-nulli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11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L1: gold → wymiary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61188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7× CTAS: surogaty ROW_NUMBER + wiersz Unknown(−1); kalendarz z sequence()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43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L2: → fakt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34340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lookup surogatów (LEFT JOIN + COALESCE −1); tylko klucze i miary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749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Walidacja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507492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rekoncyliacja: silver == gold == fakt (liczba zdarzeń ORAZ suma ofiar)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forma tabeli mapowań odpowiada wzorowi z Materiałów?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ETL na żywo — pełny przebieg w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crawler → Spark → gold → gwiazda → walidacja; kroki idempotentne — możemy odpalić przy Pani</a:t>
            </a:r>
          </a:p>
        </p:txBody>
      </p:sp>
      <p:sp>
        <p:nvSpPr>
          <p:cNvPr id="5" name="Rectangle 4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demo live</a:t>
            </a:r>
          </a:p>
        </p:txBody>
      </p:sp>
      <p:pic>
        <p:nvPicPr>
          <p:cNvPr id="6" name="Picture 5" descr="01_gr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1234440"/>
            <a:ext cx="775411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Dowody ładowania — każdy wymiar + fakt + walidacja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komplet 13 zrzutów w repo: screeny/</a:t>
            </a:r>
          </a:p>
        </p:txBody>
      </p:sp>
      <p:sp>
        <p:nvSpPr>
          <p:cNvPr id="5" name="Rectangle 4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zadanie ✔</a:t>
            </a:r>
          </a:p>
        </p:txBody>
      </p:sp>
      <p:pic>
        <p:nvPicPr>
          <p:cNvPr id="6" name="Picture 5" descr="12_fact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68767"/>
            <a:ext cx="5806440" cy="3629025"/>
          </a:xfrm>
          <a:prstGeom prst="rect">
            <a:avLst/>
          </a:prstGeom>
        </p:spPr>
      </p:pic>
      <p:pic>
        <p:nvPicPr>
          <p:cNvPr id="7" name="Picture 6" descr="13_vali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68767"/>
            <a:ext cx="5806440" cy="36290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6B7B"/>
                </a:solidFill>
                <a:latin typeface="Segoe UI"/>
              </a:rPr>
              <a:t>ładowanie faktów —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6B7B"/>
                </a:solidFill>
                <a:latin typeface="Segoe UI"/>
              </a:rPr>
              <a:t>walidacja (rekoncyliacja warstw) — SUCCESS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Jakość danych — wykryte i naprawione (12 błędów)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bonus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2E"/>
                </a:solidFill>
                <a:latin typeface="Segoe UI"/>
              </a:rPr>
              <a:t>• Cudzysłowy w CSV psuły kolumny LICZBOWE przy odczycie z Athena — suma ofiar 7× zaniżona (324 tys. vs 2,35 mln)</a:t>
            </a:r>
          </a:p>
          <a:p>
            <a:r>
              <a:rPr sz="1400" b="0">
                <a:solidFill>
                  <a:srgbClr val="6B6B7B"/>
                </a:solidFill>
                <a:latin typeface="Segoe UI"/>
              </a:rPr>
              <a:t>   – wykryte rekoncyliacją dwóch niezależnych ścieżek liczenia; liczba WIERSZY zgadzała się idealnie — dlatego walidujemy 2 metryki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Cast interaction→INT kasował kolumnę tekstową w silverze — obejście hybrydą z bronze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Pseudo-nulle → Unknown(−1) · dziurawy kalendarz → sequence() · duplikat skryptu Glue po restrukturyzacji repo</a:t>
            </a:r>
          </a:p>
          <a:p>
            <a:r>
              <a:rPr sz="1600" b="1">
                <a:solidFill>
                  <a:srgbClr val="1A1A2E"/>
                </a:solidFill>
                <a:latin typeface="Segoe UI"/>
              </a:rPr>
              <a:t>• Walidacja automatyczna po KAŻDYM runie: silver == gold == fakt (zdarzenia + ofiary)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Test odporności: świeży ingest (2.07) dodał +198 zdarzeń — pipeline przetrawił bez zmiany linii kodu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Warstwa semantyczna — model Power BI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wymóg 10 pkt 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2E"/>
                </a:solidFill>
                <a:latin typeface="Segoe UI"/>
              </a:rPr>
              <a:t>• Import gwiazdy „na płasko" (ODBC/Athena)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7 relacji *:1 — wymiar filtruje fakt</a:t>
            </a:r>
          </a:p>
          <a:p>
            <a:r>
              <a:rPr sz="1600" b="1">
                <a:solidFill>
                  <a:srgbClr val="1A1A2E"/>
                </a:solidFill>
                <a:latin typeface="Segoe UI"/>
              </a:rPr>
              <a:t>• 15+ miar DAX (SUM/COUNTROWS/DIVIDE/CALCULATE/DATEADD/DISTINCTCOUNT/RANKX)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3 hierarchie z drill-down + chronologiczny sort miesięcy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dim_date oznaczona jako tabela dat; klucze techniczne ukryte</a:t>
            </a:r>
          </a:p>
          <a:p>
            <a:r>
              <a:rPr sz="1600" b="1">
                <a:solidFill>
                  <a:srgbClr val="1A1A2E"/>
                </a:solidFill>
                <a:latin typeface="Segoe UI"/>
              </a:rPr>
              <a:t>• Jeden model odpowiada na WSZYSTKIE 12 pytań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SQL-e per-pytanie (gold_*) = uzasadnienie wymiarów i miar + niezależna weryfikacja wyników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463040"/>
            <a:ext cx="475488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6916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6F8B"/>
                </a:solidFill>
                <a:latin typeface="Segoe UI"/>
              </a:rPr>
              <a:t>Zgodność ze skryptem zajęć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194560"/>
            <a:ext cx="42062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model przed wykresami ✔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tryb Import ✔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DIVIDE zamiast „/" ✔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miary zamiast kolumn ✔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foldery + formaty ✔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ukryte klucze ✔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model Power BI jest akceptowalny jako warstwa semantyczna (zamiast SSAS)?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Raporty — Dashboard (strona startowa)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wymóg 10 pkt 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8229600" cy="4846320"/>
          </a:xfrm>
          <a:prstGeom prst="rect">
            <a:avLst/>
          </a:prstGeom>
          <a:solidFill>
            <a:srgbClr val="ECECE8"/>
          </a:solidFill>
          <a:ln w="25400">
            <a:solidFill>
              <a:srgbClr val="E08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08E45"/>
                </a:solidFill>
                <a:latin typeface="Segoe UI"/>
              </a:rPr>
              <a:t>TU WKLEJ SCREEN DASHBOARDU</a:t>
            </a:r>
            <a:br/>
            <a:r>
              <a:rPr sz="1600" b="1">
                <a:solidFill>
                  <a:srgbClr val="E08E45"/>
                </a:solidFill>
                <a:latin typeface="Segoe UI"/>
              </a:rPr>
              <a:t>(otwórz .pbix → PrintScreen → Ctrl+V na tym slajdzie)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15400" y="137160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2E"/>
                </a:solidFill>
                <a:latin typeface="Segoe UI"/>
              </a:rPr>
              <a:t>• 4 karty KPI</a:t>
            </a:r>
          </a:p>
          <a:p>
            <a:r>
              <a:rPr sz="1400" b="0">
                <a:solidFill>
                  <a:srgbClr val="1A1A2E"/>
                </a:solidFill>
                <a:latin typeface="Segoe UI"/>
              </a:rPr>
              <a:t>• trend + struktura</a:t>
            </a:r>
          </a:p>
          <a:p>
            <a:r>
              <a:rPr sz="1400" b="0">
                <a:solidFill>
                  <a:srgbClr val="1A1A2E"/>
                </a:solidFill>
                <a:latin typeface="Segoe UI"/>
              </a:rPr>
              <a:t>• TOP kraje / typy</a:t>
            </a:r>
          </a:p>
          <a:p>
            <a:r>
              <a:rPr sz="1400" b="1">
                <a:solidFill>
                  <a:srgbClr val="1A1A2E"/>
                </a:solidFill>
                <a:latin typeface="Segoe UI"/>
              </a:rPr>
              <a:t>• slicery rok+region</a:t>
            </a:r>
          </a:p>
          <a:p>
            <a:r>
              <a:rPr sz="1200" b="0">
                <a:solidFill>
                  <a:srgbClr val="6B6B7B"/>
                </a:solidFill>
                <a:latin typeface="Segoe UI"/>
              </a:rPr>
              <a:t>   – zsynchronizowane między stronami</a:t>
            </a:r>
          </a:p>
          <a:p>
            <a:r>
              <a:rPr sz="1400" b="1">
                <a:solidFill>
                  <a:srgbClr val="1A1A2E"/>
                </a:solidFill>
                <a:latin typeface="Segoe UI"/>
              </a:rPr>
              <a:t>• nawigacja boczna do 8 stron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Raporty — 8 stron analitycznych = 12 pytań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wymóg 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486400" cy="2377440"/>
          </a:xfrm>
          <a:prstGeom prst="rect">
            <a:avLst/>
          </a:prstGeom>
          <a:solidFill>
            <a:srgbClr val="ECECE8"/>
          </a:solidFill>
          <a:ln w="25400">
            <a:solidFill>
              <a:srgbClr val="E08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08E45"/>
                </a:solidFill>
                <a:latin typeface="Segoe UI"/>
              </a:rPr>
              <a:t>TU WKLEJ SCREEN: 01 Geografia (Q1–2)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486400" cy="2377440"/>
          </a:xfrm>
          <a:prstGeom prst="rect">
            <a:avLst/>
          </a:prstGeom>
          <a:solidFill>
            <a:srgbClr val="ECECE8"/>
          </a:solidFill>
          <a:ln w="25400">
            <a:solidFill>
              <a:srgbClr val="E08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08E45"/>
                </a:solidFill>
                <a:latin typeface="Segoe UI"/>
              </a:rPr>
              <a:t>TU WKLEJ SCREEN: 03 Sezonowość — heatmapa (Q4)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40480"/>
            <a:ext cx="5486400" cy="2377440"/>
          </a:xfrm>
          <a:prstGeom prst="rect">
            <a:avLst/>
          </a:prstGeom>
          <a:solidFill>
            <a:srgbClr val="ECECE8"/>
          </a:solidFill>
          <a:ln w="25400">
            <a:solidFill>
              <a:srgbClr val="E08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08E45"/>
                </a:solidFill>
                <a:latin typeface="Segoe UI"/>
              </a:rPr>
              <a:t>TU WKLEJ SCREEN: 07 Eskalacja — YoY (Q11)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3840480"/>
            <a:ext cx="5486400" cy="2377440"/>
          </a:xfrm>
          <a:prstGeom prst="rect">
            <a:avLst/>
          </a:prstGeom>
          <a:solidFill>
            <a:srgbClr val="ECECE8"/>
          </a:solidFill>
          <a:ln w="25400">
            <a:solidFill>
              <a:srgbClr val="E08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08E45"/>
                </a:solidFill>
                <a:latin typeface="Segoe UI"/>
              </a:rPr>
              <a:t>TU WKLEJ SCREEN: 08 Per capita — flip rankingu (Q12)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pozostałe strony: 02 Trendy (Q3) · 04 Typy zdarzeń (Q5–6) · 05 Aktorzy (Q7–8) · 06 Cywile (Q9) · 07 Źródła (Q10) — pokaz na żywo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Raporty — mechaniki wymagane na zajęciach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checklist 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44168"/>
            <a:ext cx="329184" cy="32918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32588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Dashboard jako pierwsza strona + karty 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szybkie zrozumienie sytuacji, potem szczegóły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47672"/>
            <a:ext cx="329184" cy="32918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2938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Slicery zsynchronizowane między stronami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929384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użytkownik wybiera rok raz — cały raport w tym samym kontekście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51176"/>
            <a:ext cx="329184" cy="32918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32888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Drill-down na hierarchiach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532888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macierz kraj→typ; struktura rok→kwartał→miesiąc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54680"/>
            <a:ext cx="329184" cy="32918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1363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Miesiące chronologicznie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3136392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„sortowanie niechronologiczne to bardzo poważny błąd" (skrypt)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58184"/>
            <a:ext cx="329184" cy="32918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39896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Heatmapa = formatowanie warunkowe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3739896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oko wychwytuje skalę z koloru, nie z liczb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61688"/>
            <a:ext cx="329184" cy="32918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434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Interakcje między wizualizacjami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34340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klik słupka filtruje sąsiednie wykresy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65192"/>
            <a:ext cx="329184" cy="32918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94690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Filtry projektanckie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4946904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rok ≤2024 (źródło niepełne za 2025), progi min. zdarzeń w rankingach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68696"/>
            <a:ext cx="329184" cy="32918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550408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Segoe UI"/>
              </a:rPr>
              <a:t>Zasady wykresów (wykład 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5550408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słupki od zera, bez 3D, tabela gdy czytamy wartości, tytuły z założeniami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Pytania, na które prosimy o Pani decyzję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A5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2E"/>
                </a:solidFill>
                <a:latin typeface="Segoe UI"/>
              </a:rPr>
              <a:t>• 1. Czy SCHEMAT GWIAZDY jest poprawny? (prosimy o formalne sprawdzenie)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2. Stack: Airflow + Athena/S3 + Power BI zamiast SSIS/SSAS/SSRS — akceptowalny?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3. event_id_cnty jako wymiar zdegenerowany — dopuszczalny?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4. Klucz iso_year + relacja dwukierunkowa do populacji — czy woli Pani inne rozwiązanie?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5. Historia: SCD typ 1 (nadpisanie) + rejestr usunięć — wystarczające dla tego tematu?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6. Rok 2025 niepełny (embargo źródła 12 mies.) — odcinamy w trendach; słuszne podejście?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7. Per capita: Kosowo bez kodu ISO numeric (0,4% zdarzeń bez populacji) — akceptowalna luka?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8. Q10: „czy więcej źródeł ⇒ więcej zdarzeń" wymaga liczności źródeł per zdarzenie — świadomie poza zakresem; OK?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Podsumowanie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2E"/>
                </a:solidFill>
                <a:latin typeface="Segoe UI"/>
              </a:rPr>
              <a:t>• Wszystkie punktowane wymagania zrealizowane: pytania · gwiazda · ETL live · semantyka · raporty</a:t>
            </a:r>
          </a:p>
          <a:p>
            <a:r>
              <a:rPr sz="1800" b="0">
                <a:solidFill>
                  <a:srgbClr val="1A1A2E"/>
                </a:solidFill>
                <a:latin typeface="Segoe UI"/>
              </a:rPr>
              <a:t>• Dodatkowo: tabela mapowań, screeny ładowań, dokumentacja, 12 naprawionych błędów jakości danych</a:t>
            </a:r>
          </a:p>
          <a:p>
            <a:r>
              <a:rPr sz="1800" b="0">
                <a:solidFill>
                  <a:srgbClr val="1A1A2E"/>
                </a:solidFill>
                <a:latin typeface="Segoe UI"/>
              </a:rPr>
              <a:t>• Całość w repozytorium: kod, SQL, DAG-i, model PBI jako kod (TMDL), diagramy, dowody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6F8B"/>
                </a:solidFill>
                <a:latin typeface="Segoe UI"/>
              </a:rPr>
              <a:t>Chętnie pokażemy wszystko na żywo (Airflow / Athena / Power BI).</a:t>
            </a:r>
          </a:p>
          <a:p>
            <a:pPr algn="l"/>
            <a:r>
              <a:rPr sz="2000" b="1">
                <a:solidFill>
                  <a:srgbClr val="1F6F8B"/>
                </a:solidFill>
                <a:latin typeface="Segoe UI"/>
              </a:rPr>
              <a:t>Prosimy o wskazanie poprawek — chcemy je nanieść przed oceną końcową.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