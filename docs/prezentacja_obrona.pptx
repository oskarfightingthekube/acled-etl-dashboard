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182880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Segoe UI"/>
              </a:rPr>
              <a:t>Hurtownia danych ACLED — przegląd realizacji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Segoe UI"/>
              </a:rPr>
              <a:t>Pokazujemy wszystko, co mamy — prosimy o ocenę, czy taka realizacja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Segoe UI"/>
              </a:rPr>
              <a:t>spełnia wymagania projektu (i co poprawić, zanim będzie za późno).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9768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  <a:latin typeface="Segoe UI"/>
              </a:rPr>
              <a:t>Oskar Mikołajczak  ·  Maciej Krzywicki  ·  Karol Samorański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126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Integracja danych i hurtownie danych · lipiec 2026 · repo: github.com/mac-v/acled-etl-dashboard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8899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6F8B"/>
                </a:solidFill>
                <a:latin typeface="Segoe UI"/>
              </a:rPr>
              <a:t>Mapa wymagań — co pokażemy po kolei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2E"/>
                </a:solidFill>
                <a:latin typeface="Segoe UI"/>
              </a:rPr>
              <a:t>1. Pytania biznesowe (7–12)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B6B7B"/>
                </a:solidFill>
                <a:latin typeface="Segoe UI"/>
              </a:rPr>
              <a:t>12 pytań, wszystkie z odpowiedzią w danych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13716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6F8B"/>
                </a:solidFill>
                <a:latin typeface="Segoe UI"/>
              </a:rPr>
              <a:t>slajd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2996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2E"/>
                </a:solidFill>
                <a:latin typeface="Segoe UI"/>
              </a:rPr>
              <a:t>2. Schemat gwiazdy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20299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B6B7B"/>
                </a:solidFill>
                <a:latin typeface="Segoe UI"/>
              </a:rPr>
              <a:t>czysta gwiazda, klucze sztuczne, 7 wymiarów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202996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6F8B"/>
                </a:solidFill>
                <a:latin typeface="Segoe UI"/>
              </a:rPr>
              <a:t>slajdy 4–5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88336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2E"/>
                </a:solidFill>
                <a:latin typeface="Segoe UI"/>
              </a:rPr>
              <a:t>3. ETL uruchomiony na żywo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688336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B6B7B"/>
                </a:solidFill>
                <a:latin typeface="Segoe UI"/>
              </a:rPr>
              <a:t>Airflow + Glue + Athena, idempotentny, walidowany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688336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6F8B"/>
                </a:solidFill>
                <a:latin typeface="Segoe UI"/>
              </a:rPr>
              <a:t>slajdy 6–9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34670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2E"/>
                </a:solidFill>
                <a:latin typeface="Segoe UI"/>
              </a:rPr>
              <a:t>4. Warstwa semantyczna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346704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B6B7B"/>
                </a:solidFill>
                <a:latin typeface="Segoe UI"/>
              </a:rPr>
              <a:t>model Power BI: relacje, 15 miar DAX, hierarchie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3346704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6F8B"/>
                </a:solidFill>
                <a:latin typeface="Segoe UI"/>
              </a:rPr>
              <a:t>slajd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005072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2E"/>
                </a:solidFill>
                <a:latin typeface="Segoe UI"/>
              </a:rPr>
              <a:t>5. Raporty z wykresami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400507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B6B7B"/>
                </a:solidFill>
                <a:latin typeface="Segoe UI"/>
              </a:rPr>
              <a:t>dashboard + strona per pytanie — W TRAKCIE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40050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6F8B"/>
                </a:solidFill>
                <a:latin typeface="Segoe UI"/>
              </a:rPr>
              <a:t>slajd 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6634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2E"/>
                </a:solidFill>
                <a:latin typeface="Segoe UI"/>
              </a:rPr>
              <a:t>Zadanie: tabela mapowań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46634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B6B7B"/>
                </a:solidFill>
                <a:latin typeface="Segoe UI"/>
              </a:rPr>
              <a:t>docs/etl_mapowania.md — etap po etapie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46634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6F8B"/>
                </a:solidFill>
                <a:latin typeface="Segoe UI"/>
              </a:rPr>
              <a:t>slajd 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32180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2E"/>
                </a:solidFill>
                <a:latin typeface="Segoe UI"/>
              </a:rPr>
              <a:t>Zadanie: screeny ładowań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532180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B6B7B"/>
                </a:solidFill>
                <a:latin typeface="Segoe UI"/>
              </a:rPr>
              <a:t>13 zrzutów: każdy wymiar + fakt + walidacja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532180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6F8B"/>
                </a:solidFill>
                <a:latin typeface="Segoe UI"/>
              </a:rPr>
              <a:t>slajd 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117336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A50F15"/>
                </a:solidFill>
                <a:latin typeface="Segoe UI"/>
              </a:rPr>
              <a:t>Na końcu: lista otwartych pytań, na które potrzebujemy Pani decyzji.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8899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6F8B"/>
                </a:solidFill>
                <a:latin typeface="Segoe UI"/>
              </a:rPr>
              <a:t>Dane źródłowe i 12 pytań biznesowych</a:t>
            </a:r>
          </a:p>
        </p:txBody>
      </p:sp>
      <p:sp>
        <p:nvSpPr>
          <p:cNvPr id="4" name="Rectangle 3"/>
          <p:cNvSpPr/>
          <p:nvPr/>
        </p:nvSpPr>
        <p:spPr>
          <a:xfrm>
            <a:off x="9448495" y="292608"/>
            <a:ext cx="2286000" cy="502920"/>
          </a:xfrm>
          <a:prstGeom prst="rect">
            <a:avLst/>
          </a:prstGeom>
          <a:solidFill>
            <a:srgbClr val="E08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wymóg 1–3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394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2E"/>
                </a:solidFill>
                <a:latin typeface="Segoe UI"/>
              </a:rPr>
              <a:t>• ACLED (API, OAuth) — realne dane o konfliktach</a:t>
            </a:r>
          </a:p>
          <a:p>
            <a:r>
              <a:rPr sz="1300" b="0">
                <a:solidFill>
                  <a:srgbClr val="6B6B7B"/>
                </a:solidFill>
                <a:latin typeface="Segoe UI"/>
              </a:rPr>
              <a:t>   – 2 669 294 zdarzeń · 1997–2025 · cały świat</a:t>
            </a:r>
          </a:p>
          <a:p>
            <a:r>
              <a:rPr sz="1500" b="1">
                <a:solidFill>
                  <a:srgbClr val="1A1A2E"/>
                </a:solidFill>
                <a:latin typeface="Segoe UI"/>
              </a:rPr>
              <a:t>• World Bank SP.POP.TOTL — populacja do per capita</a:t>
            </a:r>
          </a:p>
          <a:p>
            <a:r>
              <a:rPr sz="1300" b="0">
                <a:solidFill>
                  <a:srgbClr val="6B6B7B"/>
                </a:solidFill>
                <a:latin typeface="Segoe UI"/>
              </a:rPr>
              <a:t>   – integracja po kodzie ISO 3166-1 numeric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5577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A1A2E"/>
                </a:solidFill>
                <a:latin typeface="Segoe UI"/>
              </a:rPr>
              <a:t>• 1. Kraje/regiony z największą liczbą zdarzeń + typy</a:t>
            </a:r>
          </a:p>
          <a:p>
            <a:r>
              <a:rPr sz="1300" b="0">
                <a:solidFill>
                  <a:srgbClr val="1A1A2E"/>
                </a:solidFill>
                <a:latin typeface="Segoe UI"/>
              </a:rPr>
              <a:t>• 2. Ofiary na mapie; ofiary na zdarzenie</a:t>
            </a:r>
          </a:p>
          <a:p>
            <a:r>
              <a:rPr sz="1300" b="0">
                <a:solidFill>
                  <a:srgbClr val="1A1A2E"/>
                </a:solidFill>
                <a:latin typeface="Segoe UI"/>
              </a:rPr>
              <a:t>• 3. Trend zdarzeń w czasie per typ niepokoju</a:t>
            </a:r>
          </a:p>
          <a:p>
            <a:r>
              <a:rPr sz="1300" b="0">
                <a:solidFill>
                  <a:srgbClr val="1A1A2E"/>
                </a:solidFill>
                <a:latin typeface="Segoe UI"/>
              </a:rPr>
              <a:t>• 4. Sezonowość (miesiące)</a:t>
            </a:r>
          </a:p>
          <a:p>
            <a:r>
              <a:rPr sz="1300" b="0">
                <a:solidFill>
                  <a:srgbClr val="1A1A2E"/>
                </a:solidFill>
                <a:latin typeface="Segoe UI"/>
              </a:rPr>
              <a:t>• 5. Najbardziej śmiertelne typy zdarzeń</a:t>
            </a:r>
          </a:p>
          <a:p>
            <a:r>
              <a:rPr sz="1300" b="0">
                <a:solidFill>
                  <a:srgbClr val="1A1A2E"/>
                </a:solidFill>
                <a:latin typeface="Segoe UI"/>
              </a:rPr>
              <a:t>• 6. Protesty pokojowe vs przemoc + trend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291840"/>
            <a:ext cx="5577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A1A2E"/>
                </a:solidFill>
                <a:latin typeface="Segoe UI"/>
              </a:rPr>
              <a:t>• 7. Aktorzy: zdarzenia, ofiary, aktywność w czasie</a:t>
            </a:r>
          </a:p>
          <a:p>
            <a:r>
              <a:rPr sz="1300" b="0">
                <a:solidFill>
                  <a:srgbClr val="1A1A2E"/>
                </a:solidFill>
                <a:latin typeface="Segoe UI"/>
              </a:rPr>
              <a:t>• 8. Interakcje (państwo–rebelianci itd.)</a:t>
            </a:r>
          </a:p>
          <a:p>
            <a:r>
              <a:rPr sz="1300" b="0">
                <a:solidFill>
                  <a:srgbClr val="1A1A2E"/>
                </a:solidFill>
                <a:latin typeface="Segoe UI"/>
              </a:rPr>
              <a:t>• 9. % celowania w cywilów po regionach/aktorach</a:t>
            </a:r>
          </a:p>
          <a:p>
            <a:r>
              <a:rPr sz="1300" b="0">
                <a:solidFill>
                  <a:srgbClr val="1A1A2E"/>
                </a:solidFill>
                <a:latin typeface="Segoe UI"/>
              </a:rPr>
              <a:t>• 10. Źródła lokalne vs międzynarodowe per region</a:t>
            </a:r>
          </a:p>
          <a:p>
            <a:r>
              <a:rPr sz="1300" b="0">
                <a:solidFill>
                  <a:srgbClr val="1A1A2E"/>
                </a:solidFill>
                <a:latin typeface="Segoe UI"/>
              </a:rPr>
              <a:t>• 11. Największe wzrosty rok-do-roku</a:t>
            </a:r>
          </a:p>
          <a:p>
            <a:r>
              <a:rPr sz="1300" b="0">
                <a:solidFill>
                  <a:srgbClr val="1A1A2E"/>
                </a:solidFill>
                <a:latin typeface="Segoe UI"/>
              </a:rPr>
              <a:t>• 12. Per capita — zmiana rankingu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11277295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A50F15"/>
                </a:solidFill>
                <a:latin typeface="Segoe UI"/>
              </a:rPr>
              <a:t>PYTANIE DO PANI:  czy zakres i liczba pytań są wystarczające?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8899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6F8B"/>
                </a:solidFill>
                <a:latin typeface="Segoe UI"/>
              </a:rPr>
              <a:t>Schemat gwiazdy —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9448495" y="292608"/>
            <a:ext cx="2286000" cy="502920"/>
          </a:xfrm>
          <a:prstGeom prst="rect">
            <a:avLst/>
          </a:prstGeom>
          <a:solidFill>
            <a:srgbClr val="E08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wymóg: gwiazda</a:t>
            </a:r>
          </a:p>
        </p:txBody>
      </p:sp>
      <p:pic>
        <p:nvPicPr>
          <p:cNvPr id="5" name="Picture 4" descr="star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868" y="1051560"/>
            <a:ext cx="6725959" cy="47091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5806440"/>
            <a:ext cx="11277295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A50F15"/>
                </a:solidFill>
                <a:latin typeface="Segoe UI"/>
              </a:rPr>
              <a:t>PYTANIE DO PANI:  prosimy o weryfikację schematu (wiemy, że błędny schemat = odrzucenie projektu)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8899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6F8B"/>
                </a:solidFill>
                <a:latin typeface="Segoe UI"/>
              </a:rPr>
              <a:t>Schemat gwiazdy — decyzje projektowe</a:t>
            </a:r>
          </a:p>
        </p:txBody>
      </p:sp>
      <p:sp>
        <p:nvSpPr>
          <p:cNvPr id="4" name="Rectangle 3"/>
          <p:cNvSpPr/>
          <p:nvPr/>
        </p:nvSpPr>
        <p:spPr>
          <a:xfrm>
            <a:off x="9448495" y="292608"/>
            <a:ext cx="2286000" cy="502920"/>
          </a:xfrm>
          <a:prstGeom prst="rect">
            <a:avLst/>
          </a:prstGeom>
          <a:solidFill>
            <a:srgbClr val="E08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do oceny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55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A2E"/>
                </a:solidFill>
                <a:latin typeface="Segoe UI"/>
              </a:rPr>
              <a:t>• Hurtownia JEDNOTEMATYCZNA (jeden fakt) → czysta gwiazda, bez bus matrix</a:t>
            </a:r>
          </a:p>
          <a:p>
            <a:r>
              <a:rPr sz="1600" b="0">
                <a:solidFill>
                  <a:srgbClr val="1A1A2E"/>
                </a:solidFill>
                <a:latin typeface="Segoe UI"/>
              </a:rPr>
              <a:t>• Fakt = wyłącznie klucze wymiarów + miary addytywne (fatalities, flaga 0/1)</a:t>
            </a:r>
          </a:p>
          <a:p>
            <a:r>
              <a:rPr sz="1400" b="0">
                <a:solidFill>
                  <a:srgbClr val="6B6B7B"/>
                </a:solidFill>
                <a:latin typeface="Segoe UI"/>
              </a:rPr>
              <a:t>   – wyjątek: event_id_cnty jako wymiar zdegenerowany (unikalny per wiersz — jak NrZamówienia z wykładu)</a:t>
            </a:r>
          </a:p>
          <a:p>
            <a:r>
              <a:rPr sz="1600" b="0">
                <a:solidFill>
                  <a:srgbClr val="1A1A2E"/>
                </a:solidFill>
                <a:latin typeface="Segoe UI"/>
              </a:rPr>
              <a:t>• Klucze sztuczne we wszystkich wymiarach (ROW_NUMBER; data = yyyymmdd)</a:t>
            </a:r>
          </a:p>
          <a:p>
            <a:r>
              <a:rPr sz="1600" b="0">
                <a:solidFill>
                  <a:srgbClr val="1A1A2E"/>
                </a:solidFill>
                <a:latin typeface="Segoe UI"/>
              </a:rPr>
              <a:t>• interaction = NORMALNY wymiar (134 wartości — za mała liczność na zdegenerowany)</a:t>
            </a:r>
          </a:p>
          <a:p>
            <a:r>
              <a:rPr sz="1600" b="0">
                <a:solidFill>
                  <a:srgbClr val="1A1A2E"/>
                </a:solidFill>
                <a:latin typeface="Segoe UI"/>
              </a:rPr>
              <a:t>• Pseudo-nulle → wiersz „Unknown" (id = −1) w każdym wymiarze (wykład 12)</a:t>
            </a:r>
          </a:p>
          <a:p>
            <a:r>
              <a:rPr sz="1600" b="0">
                <a:solidFill>
                  <a:srgbClr val="1A1A2E"/>
                </a:solidFill>
                <a:latin typeface="Segoe UI"/>
              </a:rPr>
              <a:t>• dim_date = ciągły kalendarz 1997–2025 (wymóg time-intelligence Power BI)</a:t>
            </a:r>
          </a:p>
          <a:p>
            <a:r>
              <a:rPr sz="1600" b="0">
                <a:solidFill>
                  <a:srgbClr val="1A1A2E"/>
                </a:solidFill>
                <a:latin typeface="Segoe UI"/>
              </a:rPr>
              <a:t>• populacja: klucz złożony (iso, rok) spłaszczony do iso_year — relacje Power BI są 1-kolumnowe</a:t>
            </a:r>
          </a:p>
          <a:p>
            <a:r>
              <a:rPr sz="1600" b="1">
                <a:solidFill>
                  <a:srgbClr val="1A1A2E"/>
                </a:solidFill>
                <a:latin typeface="Segoe UI"/>
              </a:rPr>
              <a:t>• Zasady z wykładu 3: ≤25 wymiarów ✓ (7) · fakt ~160× większy od największego wymiaru ✓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806440"/>
            <a:ext cx="11277295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A50F15"/>
                </a:solidFill>
                <a:latin typeface="Segoe UI"/>
              </a:rPr>
              <a:t>PYTANIE DO PANI:  czy akceptuje Pani: degenerate event_id_cnty · klucz iso_year · lat/long poza gwiazdą (zostały w tabeli gold)?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8899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6F8B"/>
                </a:solidFill>
                <a:latin typeface="Segoe UI"/>
              </a:rPr>
              <a:t>ETL — architektura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9448495" y="292608"/>
            <a:ext cx="2286000" cy="502920"/>
          </a:xfrm>
          <a:prstGeom prst="rect">
            <a:avLst/>
          </a:prstGeom>
          <a:solidFill>
            <a:srgbClr val="E08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wymóg: ETL 20 pkt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1275"/>
            <a:ext cx="11460175" cy="242973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5806440"/>
            <a:ext cx="11277295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A50F15"/>
                </a:solidFill>
                <a:latin typeface="Segoe UI"/>
              </a:rPr>
              <a:t>PYTANIE DO PANI:  czy stack AWS+Airflow+Power BI jest OK jako zamiennik SSIS/SSAS/SSRS? (wg dokumentu ARCHITEKTURA — tak)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8899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6F8B"/>
                </a:solidFill>
                <a:latin typeface="Segoe UI"/>
              </a:rPr>
              <a:t>ETL — tabela mapowań (skrót)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6B7B"/>
                </a:solidFill>
                <a:latin typeface="Segoe UI"/>
              </a:rPr>
              <a:t>pełna wersja: docs/etl_mapowania.md — źródło → transformacja → cel dla każdej kolumny</a:t>
            </a:r>
          </a:p>
        </p:txBody>
      </p:sp>
      <p:sp>
        <p:nvSpPr>
          <p:cNvPr id="5" name="Rectangle 4"/>
          <p:cNvSpPr/>
          <p:nvPr/>
        </p:nvSpPr>
        <p:spPr>
          <a:xfrm>
            <a:off x="9448495" y="292608"/>
            <a:ext cx="2286000" cy="502920"/>
          </a:xfrm>
          <a:prstGeom prst="rect">
            <a:avLst/>
          </a:prstGeom>
          <a:solidFill>
            <a:srgbClr val="E08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zadanie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6F8B"/>
                </a:solidFill>
                <a:latin typeface="Segoe UI"/>
              </a:rPr>
              <a:t>E: API → bronze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1417320"/>
            <a:ext cx="7955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Python, OAuth, paginacja, przyrostowo po timestamp; surowe CSV append-only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67128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6F8B"/>
                </a:solidFill>
                <a:latin typeface="Segoe UI"/>
              </a:rPr>
              <a:t>T1: bronze → silver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2167128"/>
            <a:ext cx="7955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Glue/Spark: dedup (najnowszy timestamp = SCD typ 1), anti-join deletes, typowanie, Parquet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16936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6F8B"/>
                </a:solidFill>
                <a:latin typeface="Segoe UI"/>
              </a:rPr>
              <a:t>T2: silver+bronze → gold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916936"/>
            <a:ext cx="7955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Athena CTAS: integracja (interaction z bronze — bug casta w silverze), flaga cywilów, czyszczenie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66744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6F8B"/>
                </a:solidFill>
                <a:latin typeface="Segoe UI"/>
              </a:rPr>
              <a:t>L1: gold → wymiary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666744"/>
            <a:ext cx="7955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7× CTAS: surogaty ROW_NUMBER + wiersz Unknown(−1); kalendarz z sequence()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16552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6F8B"/>
                </a:solidFill>
                <a:latin typeface="Segoe UI"/>
              </a:rPr>
              <a:t>L2: gold+wymiary → fakt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4416552"/>
            <a:ext cx="7955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lookup surogatów (LEFT JOIN + COALESCE −1); tylko klucze i miary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6F8B"/>
                </a:solidFill>
                <a:latin typeface="Segoe UI"/>
              </a:rPr>
              <a:t>Walidacja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5166360"/>
            <a:ext cx="7955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rekoncyliacja: silver == gold == fakt (liczba zdarzeń ORAZ suma ofiar)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806440"/>
            <a:ext cx="11277295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A50F15"/>
                </a:solidFill>
                <a:latin typeface="Segoe UI"/>
              </a:rPr>
              <a:t>PYTANIE DO PANI:  czy taka forma tabeli mapowań odpowiada wzorowi z Materiałów?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8899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6F8B"/>
                </a:solidFill>
                <a:latin typeface="Segoe UI"/>
              </a:rPr>
              <a:t>ETL na żywo — Airflow (pełny przebieg, wszystkie kroki zielone)</a:t>
            </a:r>
          </a:p>
        </p:txBody>
      </p:sp>
      <p:sp>
        <p:nvSpPr>
          <p:cNvPr id="4" name="Rectangle 3"/>
          <p:cNvSpPr/>
          <p:nvPr/>
        </p:nvSpPr>
        <p:spPr>
          <a:xfrm>
            <a:off x="9448495" y="292608"/>
            <a:ext cx="2286000" cy="502920"/>
          </a:xfrm>
          <a:prstGeom prst="rect">
            <a:avLst/>
          </a:prstGeom>
          <a:solidFill>
            <a:srgbClr val="E08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pokażemy live</a:t>
            </a:r>
          </a:p>
        </p:txBody>
      </p:sp>
      <p:pic>
        <p:nvPicPr>
          <p:cNvPr id="5" name="Picture 4" descr="01_gr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944" y="1051560"/>
            <a:ext cx="7607807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8521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2 DAG-i: acled_manual_backfill (API→silver, parametr full/incremental) + acled_pipeline (gold→gwiazda→walidacja). Kroki idempotentne — można odpalić przy Pani.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8899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6F8B"/>
                </a:solidFill>
                <a:latin typeface="Segoe UI"/>
              </a:rPr>
              <a:t>Dowody ładowania — każdy wymiar + fakt + walidacja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6B7B"/>
                </a:solidFill>
                <a:latin typeface="Segoe UI"/>
              </a:rPr>
              <a:t>komplet 13 zrzutów w repo: screeny/</a:t>
            </a:r>
          </a:p>
        </p:txBody>
      </p:sp>
      <p:sp>
        <p:nvSpPr>
          <p:cNvPr id="5" name="Rectangle 4"/>
          <p:cNvSpPr/>
          <p:nvPr/>
        </p:nvSpPr>
        <p:spPr>
          <a:xfrm>
            <a:off x="9448495" y="292608"/>
            <a:ext cx="2286000" cy="502920"/>
          </a:xfrm>
          <a:prstGeom prst="rect">
            <a:avLst/>
          </a:prstGeom>
          <a:solidFill>
            <a:srgbClr val="E08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zadanie ✓</a:t>
            </a:r>
          </a:p>
        </p:txBody>
      </p:sp>
      <p:pic>
        <p:nvPicPr>
          <p:cNvPr id="6" name="Picture 5" descr="12_fact_ev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68767"/>
            <a:ext cx="5806440" cy="3629025"/>
          </a:xfrm>
          <a:prstGeom prst="rect">
            <a:avLst/>
          </a:prstGeom>
        </p:spPr>
      </p:pic>
      <p:pic>
        <p:nvPicPr>
          <p:cNvPr id="7" name="Picture 6" descr="13_vali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568767"/>
            <a:ext cx="5806440" cy="36290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532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6B7B"/>
                </a:solidFill>
                <a:latin typeface="Segoe UI"/>
              </a:rPr>
              <a:t>ładowanie faktów — SUCCESS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532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6B7B"/>
                </a:solidFill>
                <a:latin typeface="Segoe UI"/>
              </a:rPr>
              <a:t>walidacja (asserty rekoncyliacji) — SUCCESS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806440"/>
            <a:ext cx="11277295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A50F15"/>
                </a:solidFill>
                <a:latin typeface="Segoe UI"/>
              </a:rPr>
              <a:t>PYTANIE DO PANI:  czy zrzuty z zadań Airflow spełniają wymóg „momentu udanej operacji ładowania"?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8899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6F8B"/>
                </a:solidFill>
                <a:latin typeface="Segoe UI"/>
              </a:rPr>
              <a:t>Warstwa semantyczna — model Power BI</a:t>
            </a:r>
          </a:p>
        </p:txBody>
      </p:sp>
      <p:sp>
        <p:nvSpPr>
          <p:cNvPr id="4" name="Rectangle 3"/>
          <p:cNvSpPr/>
          <p:nvPr/>
        </p:nvSpPr>
        <p:spPr>
          <a:xfrm>
            <a:off x="9448495" y="292608"/>
            <a:ext cx="2286000" cy="502920"/>
          </a:xfrm>
          <a:prstGeom prst="rect">
            <a:avLst/>
          </a:prstGeom>
          <a:solidFill>
            <a:srgbClr val="E08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wymóg 10 pkt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A2E"/>
                </a:solidFill>
                <a:latin typeface="Segoe UI"/>
              </a:rPr>
              <a:t>• Import gwiazdy przez ODBC/Athena (tryb Import)</a:t>
            </a:r>
          </a:p>
          <a:p>
            <a:r>
              <a:rPr sz="1600" b="0">
                <a:solidFill>
                  <a:srgbClr val="1A1A2E"/>
                </a:solidFill>
                <a:latin typeface="Segoe UI"/>
              </a:rPr>
              <a:t>• 7 relacji *:1 — wymiar filtruje fakt</a:t>
            </a:r>
          </a:p>
          <a:p>
            <a:r>
              <a:rPr sz="1400" b="0">
                <a:solidFill>
                  <a:srgbClr val="6B6B7B"/>
                </a:solidFill>
                <a:latin typeface="Segoe UI"/>
              </a:rPr>
              <a:t>   – populacja: cross-filter Both (inaczej per capita liczy się źle)</a:t>
            </a:r>
          </a:p>
          <a:p>
            <a:r>
              <a:rPr sz="1600" b="1">
                <a:solidFill>
                  <a:srgbClr val="1A1A2E"/>
                </a:solidFill>
                <a:latin typeface="Segoe UI"/>
              </a:rPr>
              <a:t>• 15 miar DAX</a:t>
            </a:r>
          </a:p>
          <a:p>
            <a:r>
              <a:rPr sz="1400" b="0">
                <a:solidFill>
                  <a:srgbClr val="6B6B7B"/>
                </a:solidFill>
                <a:latin typeface="Segoe UI"/>
              </a:rPr>
              <a:t>   – SUM/COUNTROWS/DIVIDE · CALCULATE (protesty vs przemoc)</a:t>
            </a:r>
          </a:p>
          <a:p>
            <a:r>
              <a:rPr sz="1400" b="0">
                <a:solidFill>
                  <a:srgbClr val="6B6B7B"/>
                </a:solidFill>
                <a:latin typeface="Segoe UI"/>
              </a:rPr>
              <a:t>   – DATEADD → YoY · DISTINCTCOUNT · per-100k</a:t>
            </a:r>
          </a:p>
          <a:p>
            <a:r>
              <a:rPr sz="1600" b="1">
                <a:solidFill>
                  <a:srgbClr val="1A1A2E"/>
                </a:solidFill>
                <a:latin typeface="Segoe UI"/>
              </a:rPr>
              <a:t>• 3 hierarchie z drill-down + sort miesięcy po numerze</a:t>
            </a:r>
          </a:p>
          <a:p>
            <a:r>
              <a:rPr sz="1400" b="0">
                <a:solidFill>
                  <a:srgbClr val="6B6B7B"/>
                </a:solidFill>
                <a:latin typeface="Segoe UI"/>
              </a:rPr>
              <a:t>   – Rok→Kwartał→Miesiąc · Region→Kraj · Disorder→Event→Sub</a:t>
            </a:r>
          </a:p>
          <a:p>
            <a:r>
              <a:rPr sz="1600" b="0">
                <a:solidFill>
                  <a:srgbClr val="1A1A2E"/>
                </a:solidFill>
                <a:latin typeface="Segoe UI"/>
              </a:rPr>
              <a:t>• dim_date oznaczona jako tabela dat</a:t>
            </a:r>
          </a:p>
          <a:p>
            <a:r>
              <a:rPr sz="1600" b="1">
                <a:solidFill>
                  <a:srgbClr val="1A1A2E"/>
                </a:solidFill>
                <a:latin typeface="Segoe UI"/>
              </a:rPr>
              <a:t>• Jeden model odpowiada na WSZYSTKIE 12 pytań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0" y="1463040"/>
            <a:ext cx="4754880" cy="3840480"/>
          </a:xfrm>
          <a:prstGeom prst="rect">
            <a:avLst/>
          </a:prstGeom>
          <a:solidFill>
            <a:srgbClr val="FFFFFF"/>
          </a:solidFill>
          <a:ln>
            <a:solidFill>
              <a:srgbClr val="1F6F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16916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6F8B"/>
                </a:solidFill>
                <a:latin typeface="Segoe UI"/>
              </a:rPr>
              <a:t>Rola SQL-i per-pytanie (gold_*)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194560"/>
            <a:ext cx="4206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To NIE jest warstwa semantyczna —</a:t>
            </a:r>
          </a:p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to uzasadnienie doboru wymiarów</a:t>
            </a:r>
          </a:p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i miar oraz niezależna ścieżka</a:t>
            </a:r>
          </a:p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weryfikacji wyników (to ona wykryła</a:t>
            </a:r>
          </a:p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błąd zaniżonych ofiar 7×).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806440"/>
            <a:ext cx="11277295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A50F15"/>
                </a:solidFill>
                <a:latin typeface="Segoe UI"/>
              </a:rPr>
              <a:t>PYTANIE DO PANI:  czy model Power BI jest akceptowalny jako warstwa semantyczna (zamiast SSAS)?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8899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6F8B"/>
                </a:solidFill>
                <a:latin typeface="Segoe UI"/>
              </a:rPr>
              <a:t>Raporty — stan: W TRAKCIE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6B7B"/>
                </a:solidFill>
                <a:latin typeface="Segoe UI"/>
              </a:rPr>
              <a:t>model gotowy; strony klikamy według poniższego planu — do pokazania na zjeździe</a:t>
            </a:r>
          </a:p>
        </p:txBody>
      </p:sp>
      <p:sp>
        <p:nvSpPr>
          <p:cNvPr id="5" name="Rectangle 4"/>
          <p:cNvSpPr/>
          <p:nvPr/>
        </p:nvSpPr>
        <p:spPr>
          <a:xfrm>
            <a:off x="9448495" y="292608"/>
            <a:ext cx="2286000" cy="502920"/>
          </a:xfrm>
          <a:prstGeom prst="rect">
            <a:avLst/>
          </a:prstGeom>
          <a:solidFill>
            <a:srgbClr val="E08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do dokończenia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155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A2E"/>
                </a:solidFill>
                <a:latin typeface="Segoe UI"/>
              </a:rPr>
              <a:t>• Dashboard (pierwsza strona): 4 karty KPI + trend + struktura + slicery + przyciski nawigacji</a:t>
            </a:r>
          </a:p>
          <a:p>
            <a:r>
              <a:rPr sz="1600" b="0">
                <a:solidFill>
                  <a:srgbClr val="1A1A2E"/>
                </a:solidFill>
                <a:latin typeface="Segoe UI"/>
              </a:rPr>
              <a:t>• 7 stron = 12 pytań: mapa, słupkowe Top N, liniowe z legendą, macierz-heatmapa, punktowy, tabele rankingowe</a:t>
            </a:r>
          </a:p>
          <a:p>
            <a:r>
              <a:rPr sz="1600" b="0">
                <a:solidFill>
                  <a:srgbClr val="1A1A2E"/>
                </a:solidFill>
                <a:latin typeface="Segoe UI"/>
              </a:rPr>
              <a:t>• Mechaniki ze skryptu zajęć: slicery zsynchronizowane · drill-down · formatowanie warunkowe · interakcje</a:t>
            </a:r>
          </a:p>
          <a:p>
            <a:r>
              <a:rPr sz="1600" b="0">
                <a:solidFill>
                  <a:srgbClr val="1A1A2E"/>
                </a:solidFill>
                <a:latin typeface="Segoe UI"/>
              </a:rPr>
              <a:t>• Zasady wizualizacji (wykład 8): słupki od zera, oś czasu chronologicznie, bez 3D</a:t>
            </a:r>
          </a:p>
          <a:p>
            <a:r>
              <a:rPr sz="1600" b="1">
                <a:solidFill>
                  <a:srgbClr val="1A1A2E"/>
                </a:solidFill>
                <a:latin typeface="Segoe UI"/>
              </a:rPr>
              <a:t>• Przykładowe odpowiedzi już z SQL: Ukraina 2022 +35 tys. (inwazja) · Palestyna #10→#1 per capita · Państwo–Rebelianci 612 tys. ofiar · Afryka Środkowa ~38% celowania w cywilów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806440"/>
            <a:ext cx="11277295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A50F15"/>
                </a:solidFill>
                <a:latin typeface="Segoe UI"/>
              </a:rPr>
              <a:t>PYTANIE DO PANI:  czy taki układ raportu (dashboard + strona per pytanie) odpowiada oczekiwaniom?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8899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6F8B"/>
                </a:solidFill>
                <a:latin typeface="Segoe UI"/>
              </a:rPr>
              <a:t>Jakość danych — co znaleźliśmy i naprawiliśmy</a:t>
            </a:r>
          </a:p>
        </p:txBody>
      </p:sp>
      <p:sp>
        <p:nvSpPr>
          <p:cNvPr id="4" name="Rectangle 3"/>
          <p:cNvSpPr/>
          <p:nvPr/>
        </p:nvSpPr>
        <p:spPr>
          <a:xfrm>
            <a:off x="9448495" y="292608"/>
            <a:ext cx="2286000" cy="502920"/>
          </a:xfrm>
          <a:prstGeom prst="rect">
            <a:avLst/>
          </a:prstGeom>
          <a:solidFill>
            <a:srgbClr val="E08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bonus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A2E"/>
                </a:solidFill>
                <a:latin typeface="Segoe UI"/>
              </a:rPr>
              <a:t>• Cudzysłowy w CSV psuły kolumny liczbowe przy odczycie przez Athenę — suma ofiar 7× zaniżona (324 tys. zamiast 2,35 mln)</a:t>
            </a:r>
          </a:p>
          <a:p>
            <a:r>
              <a:rPr sz="1400" b="0">
                <a:solidFill>
                  <a:srgbClr val="6B6B7B"/>
                </a:solidFill>
                <a:latin typeface="Segoe UI"/>
              </a:rPr>
              <a:t>   – wykryte rekoncyliacją dwóch niezależnych ścieżek liczenia; fix: odczyt z Parquet silvera</a:t>
            </a:r>
          </a:p>
          <a:p>
            <a:r>
              <a:rPr sz="1600" b="0">
                <a:solidFill>
                  <a:srgbClr val="1A1A2E"/>
                </a:solidFill>
                <a:latin typeface="Segoe UI"/>
              </a:rPr>
              <a:t>• Cast interaction→INT w jobie Spark kasował kolumnę (etykieta tekstowa) — obejście: hybryda z bronze</a:t>
            </a:r>
          </a:p>
          <a:p>
            <a:r>
              <a:rPr sz="1600" b="0">
                <a:solidFill>
                  <a:srgbClr val="1A1A2E"/>
                </a:solidFill>
                <a:latin typeface="Segoe UI"/>
              </a:rPr>
              <a:t>• Pseudo-nulle („") → wiersz Unknown(−1); dziurawy kalendarz → ciągły sequence(); 12 błędów łącznie</a:t>
            </a:r>
          </a:p>
          <a:p>
            <a:r>
              <a:rPr sz="1600" b="1">
                <a:solidFill>
                  <a:srgbClr val="1A1A2E"/>
                </a:solidFill>
                <a:latin typeface="Segoe UI"/>
              </a:rPr>
              <a:t>• Wniosek: walidacja automatyczna po każdym runie — liczba zdarzeń ORAZ suma miary, między warstwami</a:t>
            </a:r>
          </a:p>
          <a:p>
            <a:r>
              <a:rPr sz="1600" b="0">
                <a:solidFill>
                  <a:srgbClr val="1A1A2E"/>
                </a:solidFill>
                <a:latin typeface="Segoe UI"/>
              </a:rPr>
              <a:t>• Dane żywe: świeży ingest (2.07) dodał +198 zdarzeń — pipeline przetrawił bez zmiany linii kodu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8899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6F8B"/>
                </a:solidFill>
                <a:latin typeface="Segoe UI"/>
              </a:rPr>
              <a:t>Pytania, na które potrzebujemy Pani decyzji</a:t>
            </a:r>
          </a:p>
        </p:txBody>
      </p:sp>
      <p:sp>
        <p:nvSpPr>
          <p:cNvPr id="4" name="Rectangle 3"/>
          <p:cNvSpPr/>
          <p:nvPr/>
        </p:nvSpPr>
        <p:spPr>
          <a:xfrm>
            <a:off x="9448495" y="292608"/>
            <a:ext cx="2286000" cy="502920"/>
          </a:xfrm>
          <a:prstGeom prst="rect">
            <a:avLst/>
          </a:prstGeom>
          <a:solidFill>
            <a:srgbClr val="E08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PROSIMY O FEEDBACK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1A2E"/>
                </a:solidFill>
                <a:latin typeface="Segoe UI"/>
              </a:rPr>
              <a:t>• 1. Czy SCHEMAT GWIAZDY jest poprawny? (kluczowe — prosimy o formalne „sprawdzenie schematu")</a:t>
            </a:r>
          </a:p>
          <a:p>
            <a:r>
              <a:rPr sz="1700" b="0">
                <a:solidFill>
                  <a:srgbClr val="1A1A2E"/>
                </a:solidFill>
                <a:latin typeface="Segoe UI"/>
              </a:rPr>
              <a:t>• 2. Stack: Airflow + Athena/S3 + model Power BI zamiast SSIS/SSAS/SSRS — akceptowalny?</a:t>
            </a:r>
          </a:p>
          <a:p>
            <a:r>
              <a:rPr sz="1700" b="0">
                <a:solidFill>
                  <a:srgbClr val="1A1A2E"/>
                </a:solidFill>
                <a:latin typeface="Segoe UI"/>
              </a:rPr>
              <a:t>• 3. event_id_cnty jako wymiar zdegenerowany — dopuszczalny? (liczność = liczności faktu)</a:t>
            </a:r>
          </a:p>
          <a:p>
            <a:r>
              <a:rPr sz="1700" b="0">
                <a:solidFill>
                  <a:srgbClr val="1A1A2E"/>
                </a:solidFill>
                <a:latin typeface="Segoe UI"/>
              </a:rPr>
              <a:t>• 4. Klucz iso_year (iso·10000+rok) dla populacji — czy woli Pani inne rozwiązanie klucza złożonego?</a:t>
            </a:r>
          </a:p>
          <a:p>
            <a:r>
              <a:rPr sz="1700" b="0">
                <a:solidFill>
                  <a:srgbClr val="1A1A2E"/>
                </a:solidFill>
                <a:latin typeface="Segoe UI"/>
              </a:rPr>
              <a:t>• 5. Rejestrowanie historii: SCD typ 1 (nadpisanie) + rejestr usunięć — wystarczające uzasadnienie?</a:t>
            </a:r>
          </a:p>
          <a:p>
            <a:r>
              <a:rPr sz="1700" b="0">
                <a:solidFill>
                  <a:srgbClr val="1A1A2E"/>
                </a:solidFill>
                <a:latin typeface="Segoe UI"/>
              </a:rPr>
              <a:t>• 6. Rok 2025 jest niepełny (dane do czerwca) — jak prezentować YoY?</a:t>
            </a:r>
          </a:p>
          <a:p>
            <a:r>
              <a:rPr sz="1700" b="0">
                <a:solidFill>
                  <a:srgbClr val="1A1A2E"/>
                </a:solidFill>
                <a:latin typeface="Segoe UI"/>
              </a:rPr>
              <a:t>• 7. Per capita: brak populacji dla Kosowa (brak kodu ISO numeric, 0,4% zdarzeń) — akceptowalna luka?</a:t>
            </a:r>
          </a:p>
          <a:p>
            <a:r>
              <a:rPr sz="1700" b="0">
                <a:solidFill>
                  <a:srgbClr val="1A1A2E"/>
                </a:solidFill>
                <a:latin typeface="Segoe UI"/>
              </a:rPr>
              <a:t>• 8. Czy forma dowodów (screeny z Airflow) i tabeli mapowań odpowiada wymaganiom zadań?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88998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6F8B"/>
                </a:solidFill>
                <a:latin typeface="Segoe UI"/>
              </a:rPr>
              <a:t>Podsumowanie stanu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A1A2E"/>
                </a:solidFill>
                <a:latin typeface="Segoe UI"/>
              </a:rPr>
              <a:t>• GOTOWE: pipeline E2E (żywy, walidowany) · gwiazda · model semantyczny · mapowania · screeny · dokumentacja</a:t>
            </a:r>
          </a:p>
          <a:p>
            <a:r>
              <a:rPr sz="1800" b="1">
                <a:solidFill>
                  <a:srgbClr val="1A1A2E"/>
                </a:solidFill>
                <a:latin typeface="Segoe UI"/>
              </a:rPr>
              <a:t>• W TRAKCIE: strony raportu w Power BI (model już stoi — zostało klikanie wykresów)</a:t>
            </a:r>
          </a:p>
          <a:p>
            <a:r>
              <a:rPr sz="1800" b="0">
                <a:solidFill>
                  <a:srgbClr val="1A1A2E"/>
                </a:solidFill>
                <a:latin typeface="Segoe UI"/>
              </a:rPr>
              <a:t>• Wszystko w repozytorium — kod, SQL, DAG-i, diagramy, dowody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37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6F8B"/>
                </a:solidFill>
                <a:latin typeface="Segoe UI"/>
              </a:rPr>
              <a:t>Chętnie pokażemy wszystko na żywo (Airflow / Athena / Power BI)</a:t>
            </a:r>
          </a:p>
          <a:p>
            <a:pPr algn="l"/>
            <a:r>
              <a:rPr sz="2000" b="1">
                <a:solidFill>
                  <a:srgbClr val="1F6F8B"/>
                </a:solidFill>
                <a:latin typeface="Segoe UI"/>
              </a:rPr>
              <a:t>i prosimy o wskazanie, co poprawić przed oddaniem.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