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173736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Hurtownia danych ACLED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egoe UI"/>
              </a:rPr>
              <a:t>Konflikty zbrojne na świecie 1997–2025  ·  lakehouse AWS  ·  Airflow  ·  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  <a:latin typeface="Segoe UI"/>
              </a:rPr>
              <a:t>Oskar Mikołajczak  ·  Maciej Krzywicki  ·  Karol Samorański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7B"/>
                </a:solidFill>
                <a:latin typeface="Segoe UI"/>
              </a:rPr>
              <a:t>Integracja danych i hurtownie danych — projekt zaliczeniowy, lipiec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6F8B"/>
                </a:solidFill>
                <a:latin typeface="Segoe UI"/>
              </a:rPr>
              <a:t>Temat i dane źródłowe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6B7B"/>
                </a:solidFill>
                <a:latin typeface="Segoe UI"/>
              </a:rPr>
              <a:t>dane realne, NIE generowane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1A1A2E"/>
                </a:solidFill>
                <a:latin typeface="Segoe UI"/>
              </a:rPr>
              <a:t>• ACLED — Armed Conflict Location &amp; Event Data</a:t>
            </a:r>
          </a:p>
          <a:p>
            <a:pPr/>
            <a:r>
              <a:rPr sz="1600" b="0">
                <a:solidFill>
                  <a:srgbClr val="6B6B7B"/>
                </a:solidFill>
                <a:latin typeface="Segoe UI"/>
              </a:rPr>
              <a:t>   – ekspercki rejestr zdarzeń konfliktowych: bitwy, protesty, zamieszki, przemoc wobec cywilów</a:t>
            </a:r>
          </a:p>
          <a:p>
            <a:pPr/>
            <a:r>
              <a:rPr sz="1600" b="0">
                <a:solidFill>
                  <a:srgbClr val="6B6B7B"/>
                </a:solidFill>
                <a:latin typeface="Segoe UI"/>
              </a:rPr>
              <a:t>   – pobierane z oficjalnego API (OAuth, paginacja, ładowanie przyrostowe)</a:t>
            </a:r>
          </a:p>
          <a:p>
            <a:pPr/>
            <a:r>
              <a:rPr sz="1600" b="0">
                <a:solidFill>
                  <a:srgbClr val="6B6B7B"/>
                </a:solidFill>
                <a:latin typeface="Segoe UI"/>
              </a:rPr>
              <a:t>   – 2 669 294 zdarzeń po deduplikacji  ·  1997–2025  ·  cały świat</a:t>
            </a:r>
          </a:p>
          <a:p>
            <a:pPr/>
            <a:r>
              <a:rPr sz="1800" b="1">
                <a:solidFill>
                  <a:srgbClr val="1A1A2E"/>
                </a:solidFill>
                <a:latin typeface="Segoe UI"/>
              </a:rPr>
              <a:t>• World Bank — SP.POP.TOTL (populacja)</a:t>
            </a:r>
          </a:p>
          <a:p>
            <a:pPr/>
            <a:r>
              <a:rPr sz="1600" b="0">
                <a:solidFill>
                  <a:srgbClr val="6B6B7B"/>
                </a:solidFill>
                <a:latin typeface="Segoe UI"/>
              </a:rPr>
              <a:t>   – 215 krajów × 29 lat — do analiz per capita</a:t>
            </a:r>
          </a:p>
          <a:p>
            <a:pPr/>
            <a:r>
              <a:rPr sz="1600" b="0">
                <a:solidFill>
                  <a:srgbClr val="6B6B7B"/>
                </a:solidFill>
                <a:latin typeface="Segoe UI"/>
              </a:rPr>
              <a:t>   – klucz wspólny: ISO 3166-1 numeric (Ukraina = 804)</a:t>
            </a:r>
          </a:p>
          <a:p>
            <a:pPr/>
            <a:r>
              <a:rPr sz="1800" b="1">
                <a:solidFill>
                  <a:srgbClr val="1A1A2E"/>
                </a:solidFill>
                <a:latin typeface="Segoe UI"/>
              </a:rPr>
              <a:t>• Temat hurtowni: zdarzenia konfliktów zbrojnych</a:t>
            </a:r>
          </a:p>
          <a:p>
            <a:pPr/>
            <a:r>
              <a:rPr sz="1600" b="0">
                <a:solidFill>
                  <a:srgbClr val="6B6B7B"/>
                </a:solidFill>
                <a:latin typeface="Segoe UI"/>
              </a:rPr>
              <a:t>   – ziarnistość: jedno zdarzenie (fakt transakcyjny)</a:t>
            </a:r>
          </a:p>
          <a:p>
            <a:pPr/>
            <a:r>
              <a:rPr sz="1600" b="0">
                <a:solidFill>
                  <a:srgbClr val="6B6B7B"/>
                </a:solidFill>
                <a:latin typeface="Segoe UI"/>
              </a:rPr>
              <a:t>   – miary: fatalities (addytywna), flaga celowania w cywilów (0/1)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0" y="1463040"/>
            <a:ext cx="466344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1737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6F8B"/>
                </a:solidFill>
                <a:latin typeface="Segoe UI"/>
              </a:rPr>
              <a:t>Liczby do zapamiętania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286000"/>
            <a:ext cx="4114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  <a:latin typeface="Segoe UI"/>
              </a:rPr>
              <a:t>2 669 294  zdarzeń</a:t>
            </a:r>
          </a:p>
          <a:p>
            <a:pPr algn="l"/>
            <a:r>
              <a:rPr sz="2000" b="0">
                <a:solidFill>
                  <a:srgbClr val="1A1A2E"/>
                </a:solidFill>
                <a:latin typeface="Segoe UI"/>
              </a:rPr>
              <a:t>2 346 567  ofiar</a:t>
            </a:r>
          </a:p>
          <a:p>
            <a:pPr algn="l"/>
            <a:r>
              <a:rPr sz="2000" b="0">
                <a:solidFill>
                  <a:srgbClr val="1A1A2E"/>
                </a:solidFill>
                <a:latin typeface="Segoe UI"/>
              </a:rPr>
              <a:t>242  kraje · 16 494  aktorów</a:t>
            </a:r>
          </a:p>
          <a:p>
            <a:pPr algn="l"/>
            <a:r>
              <a:rPr sz="2000" b="0">
                <a:solidFill>
                  <a:srgbClr val="1A1A2E"/>
                </a:solidFill>
                <a:latin typeface="Segoe UI"/>
              </a:rPr>
              <a:t>134  typy interakcji</a:t>
            </a:r>
          </a:p>
          <a:p>
            <a:pPr algn="l"/>
            <a:r>
              <a:rPr sz="2000" b="0">
                <a:solidFill>
                  <a:srgbClr val="1A1A2E"/>
                </a:solidFill>
                <a:latin typeface="Segoe UI"/>
              </a:rPr>
              <a:t>10 592  dni w kalendarzu</a:t>
            </a:r>
          </a:p>
          <a:p>
            <a:pPr algn="l"/>
            <a:r>
              <a:rPr sz="2000" b="0">
                <a:solidFill>
                  <a:srgbClr val="1A1A2E"/>
                </a:solidFill>
                <a:latin typeface="Segoe UI"/>
              </a:rPr>
              <a:t>6 235  wierszy populacji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6F8B"/>
                </a:solidFill>
                <a:latin typeface="Segoe UI"/>
              </a:rPr>
              <a:t>12 pytań biznesowych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6B7B"/>
                </a:solidFill>
                <a:latin typeface="Segoe UI"/>
              </a:rPr>
              <a:t>8 kategorii — wszystkie zrealizowane w raportach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1A1A2E"/>
                </a:solidFill>
                <a:latin typeface="Segoe UI"/>
              </a:rPr>
              <a:t>• 1. Które kraje i regiony mają najwięcej zdarzeń i jakie typy tam dominują?</a:t>
            </a:r>
          </a:p>
          <a:p>
            <a:pPr/>
            <a:r>
              <a:rPr sz="1500" b="0">
                <a:solidFill>
                  <a:srgbClr val="1A1A2E"/>
                </a:solidFill>
                <a:latin typeface="Segoe UI"/>
              </a:rPr>
              <a:t>• 2. Gdzie na mapie jest najwięcej ofiar i gdzie najwyższe ofiary/zdarzenie?</a:t>
            </a:r>
          </a:p>
          <a:p>
            <a:pPr/>
            <a:r>
              <a:rPr sz="1500" b="0">
                <a:solidFill>
                  <a:srgbClr val="1A1A2E"/>
                </a:solidFill>
                <a:latin typeface="Segoe UI"/>
              </a:rPr>
              <a:t>• 3. Jak liczba zdarzeń zmieniała się w czasie per typ niepokoju?</a:t>
            </a:r>
          </a:p>
          <a:p>
            <a:pPr/>
            <a:r>
              <a:rPr sz="1500" b="0">
                <a:solidFill>
                  <a:srgbClr val="1A1A2E"/>
                </a:solidFill>
                <a:latin typeface="Segoe UI"/>
              </a:rPr>
              <a:t>• 4. Czy istnieje sezonowość (miesiące)?</a:t>
            </a:r>
          </a:p>
          <a:p>
            <a:pPr/>
            <a:r>
              <a:rPr sz="1500" b="0">
                <a:solidFill>
                  <a:srgbClr val="1A1A2E"/>
                </a:solidFill>
                <a:latin typeface="Segoe UI"/>
              </a:rPr>
              <a:t>• 5. Które typy zdarzeń zabijają najwięcej (łącznie i na zdarzenie)?</a:t>
            </a:r>
          </a:p>
          <a:p>
            <a:pPr/>
            <a:r>
              <a:rPr sz="1500" b="0">
                <a:solidFill>
                  <a:srgbClr val="1A1A2E"/>
                </a:solidFill>
                <a:latin typeface="Segoe UI"/>
              </a:rPr>
              <a:t>• 6. Protesty pokojowe vs przemoc — stosunek i trend?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1A1A2E"/>
                </a:solidFill>
                <a:latin typeface="Segoe UI"/>
              </a:rPr>
              <a:t>• 7. Którzy aktorzy generują najwięcej zdarzeń i ofiar?</a:t>
            </a:r>
          </a:p>
          <a:p>
            <a:pPr/>
            <a:r>
              <a:rPr sz="1500" b="0">
                <a:solidFill>
                  <a:srgbClr val="1A1A2E"/>
                </a:solidFill>
                <a:latin typeface="Segoe UI"/>
              </a:rPr>
              <a:t>• 8. Które interakcje (np. państwo–rebelianci) najczęstsze i najkrwawsze?</a:t>
            </a:r>
          </a:p>
          <a:p>
            <a:pPr/>
            <a:r>
              <a:rPr sz="1500" b="0">
                <a:solidFill>
                  <a:srgbClr val="1A1A2E"/>
                </a:solidFill>
                <a:latin typeface="Segoe UI"/>
              </a:rPr>
              <a:t>• 9. Jaki % zdarzeń celuje w cywilów — po regionach i aktorach?</a:t>
            </a:r>
          </a:p>
          <a:p>
            <a:pPr/>
            <a:r>
              <a:rPr sz="1500" b="0">
                <a:solidFill>
                  <a:srgbClr val="1A1A2E"/>
                </a:solidFill>
                <a:latin typeface="Segoe UI"/>
              </a:rPr>
              <a:t>• 10. Skąd pochodzą źródła (lokalne vs międzynarodowe) per region?</a:t>
            </a:r>
          </a:p>
          <a:p>
            <a:pPr/>
            <a:r>
              <a:rPr sz="1500" b="0">
                <a:solidFill>
                  <a:srgbClr val="1A1A2E"/>
                </a:solidFill>
                <a:latin typeface="Segoe UI"/>
              </a:rPr>
              <a:t>• 11. Które kraje mają największy wzrost rok-do-roku?</a:t>
            </a:r>
          </a:p>
          <a:p>
            <a:pPr/>
            <a:r>
              <a:rPr sz="1500" b="0">
                <a:solidFill>
                  <a:srgbClr val="1A1A2E"/>
                </a:solidFill>
                <a:latin typeface="Segoe UI"/>
              </a:rPr>
              <a:t>• 12. Per capita (na 100 tys.) — jak zmienia się ranking krajów?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6F8B"/>
                </a:solidFill>
                <a:latin typeface="Segoe UI"/>
              </a:rPr>
              <a:t>Architektura — lakehouse w układzie medalionu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79895"/>
            <a:ext cx="11460175" cy="2429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6F8B"/>
                </a:solidFill>
                <a:latin typeface="Segoe UI"/>
              </a:rPr>
              <a:t>Warstwy: bronze → silver → gold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6B7B"/>
                </a:solidFill>
                <a:latin typeface="Segoe UI"/>
              </a:rPr>
              <a:t>zasada: bliżej źródła = więcej danych, bliżej raportu = więcej sensu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011680" cy="1280160"/>
          </a:xfrm>
          <a:prstGeom prst="rect">
            <a:avLst/>
          </a:prstGeom>
          <a:solidFill>
            <a:srgbClr val="E08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BRONZE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691640"/>
            <a:ext cx="8778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Segoe UI"/>
              </a:rPr>
              <a:t>surowe CSV z API, append-only, nigdy nie modyfikowane — archiwum i nieulotność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17520"/>
            <a:ext cx="2011680" cy="1280160"/>
          </a:xfrm>
          <a:prstGeom prst="rect">
            <a:avLst/>
          </a:prstGeom>
          <a:solidFill>
            <a:srgbClr val="6B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3246120"/>
            <a:ext cx="8778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Segoe UI"/>
              </a:rPr>
              <a:t>Glue/Spark: deduplikacja (najnowszy timestamp = SCD typ 1), anti-join z rejestrem usunięć, typowanie, Parquet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572000"/>
            <a:ext cx="2011680" cy="128016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GOLD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4800600"/>
            <a:ext cx="8778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Segoe UI"/>
              </a:rPr>
              <a:t>Athena CTAS: integracja źródeł, czyszczenie, flagi + czysty SCHEMAT GWIAZDY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Segoe UI"/>
              </a:rPr>
              <a:t>Orkiestracja: Apache Airflow — 2 DAG-i (backfill: API→silver  ·  pipeline: gold→gwiazda→walidacja), kroki idempotentne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6F8B"/>
                </a:solidFill>
                <a:latin typeface="Segoe UI"/>
              </a:rPr>
              <a:t>Czysty schemat gwiazdy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6B7B"/>
                </a:solidFill>
                <a:latin typeface="Segoe UI"/>
              </a:rPr>
              <a:t>fakt = tylko klucze i miary  ·  klucze sztuczne  ·  wiersz Unknown(−1) za pseudo-nulle</a:t>
            </a:r>
          </a:p>
        </p:txBody>
      </p:sp>
      <p:pic>
        <p:nvPicPr>
          <p:cNvPr id="5" name="Picture 4" descr="star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15" y="1188720"/>
            <a:ext cx="731366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6F8B"/>
                </a:solidFill>
                <a:latin typeface="Segoe UI"/>
              </a:rPr>
              <a:t>ETL uruchamiany na żywo — Airflow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6B7B"/>
                </a:solidFill>
                <a:latin typeface="Segoe UI"/>
              </a:rPr>
              <a:t>pełny przebieg: crawler → Spark → gold → gwiazda → walidacja (~8 min)</a:t>
            </a:r>
          </a:p>
        </p:txBody>
      </p:sp>
      <p:pic>
        <p:nvPicPr>
          <p:cNvPr id="5" name="Picture 4" descr="01_gr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335" y="1188720"/>
            <a:ext cx="81930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6F8B"/>
                </a:solidFill>
                <a:latin typeface="Segoe UI"/>
              </a:rPr>
              <a:t>Walidacja: rekoncyliacja warstw po każdym runie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1">
                <a:solidFill>
                  <a:srgbClr val="1A1A2E"/>
                </a:solidFill>
                <a:latin typeface="Segoe UI"/>
              </a:rPr>
              <a:t>• Zadanie `validate` kończy każdy przebieg DAG-a</a:t>
            </a:r>
          </a:p>
          <a:p>
            <a:pPr/>
            <a:r>
              <a:rPr sz="1500" b="0">
                <a:solidFill>
                  <a:srgbClr val="6B6B7B"/>
                </a:solidFill>
                <a:latin typeface="Segoe UI"/>
              </a:rPr>
              <a:t>   – liczba zdarzeń: silver == gold == fakt</a:t>
            </a:r>
          </a:p>
          <a:p>
            <a:pPr/>
            <a:r>
              <a:rPr sz="1500" b="0">
                <a:solidFill>
                  <a:srgbClr val="6B6B7B"/>
                </a:solidFill>
                <a:latin typeface="Segoe UI"/>
              </a:rPr>
              <a:t>   – suma fatalities: silver == gold == fakt</a:t>
            </a:r>
          </a:p>
          <a:p>
            <a:pPr/>
            <a:r>
              <a:rPr sz="1700" b="1">
                <a:solidFill>
                  <a:srgbClr val="1A1A2E"/>
                </a:solidFill>
                <a:latin typeface="Segoe UI"/>
              </a:rPr>
              <a:t>• Dlaczego DWIE metryki, nie jedna?</a:t>
            </a:r>
          </a:p>
          <a:p>
            <a:pPr/>
            <a:r>
              <a:rPr sz="1500" b="0">
                <a:solidFill>
                  <a:srgbClr val="6B6B7B"/>
                </a:solidFill>
                <a:latin typeface="Segoe UI"/>
              </a:rPr>
              <a:t>   – liczba wierszy zgadzała się idealnie…</a:t>
            </a:r>
          </a:p>
          <a:p>
            <a:pPr/>
            <a:r>
              <a:rPr sz="1500" b="0">
                <a:solidFill>
                  <a:srgbClr val="6B6B7B"/>
                </a:solidFill>
                <a:latin typeface="Segoe UI"/>
              </a:rPr>
              <a:t>   – …a suma ofiar była 7× zaniżona (bug SerDe)</a:t>
            </a:r>
          </a:p>
          <a:p>
            <a:pPr/>
            <a:r>
              <a:rPr sz="1700" b="1">
                <a:solidFill>
                  <a:srgbClr val="1A1A2E"/>
                </a:solidFill>
                <a:latin typeface="Segoe UI"/>
              </a:rPr>
              <a:t>• Dlaczego rekoncyliacja, nie stałe liczby?</a:t>
            </a:r>
          </a:p>
          <a:p>
            <a:pPr/>
            <a:r>
              <a:rPr sz="1500" b="0">
                <a:solidFill>
                  <a:srgbClr val="6B6B7B"/>
                </a:solidFill>
                <a:latin typeface="Segoe UI"/>
              </a:rPr>
              <a:t>   – dane rosną przyrostowo — świeży ingest 2.07 dodał +198 zdarzeń</a:t>
            </a:r>
          </a:p>
          <a:p>
            <a:pPr/>
            <a:r>
              <a:rPr sz="1500" b="0">
                <a:solidFill>
                  <a:srgbClr val="6B6B7B"/>
                </a:solidFill>
                <a:latin typeface="Segoe UI"/>
              </a:rPr>
              <a:t>   – pipeline przetrawił je bez zmiany ani jednej linii kodu</a:t>
            </a:r>
          </a:p>
        </p:txBody>
      </p:sp>
      <p:pic>
        <p:nvPicPr>
          <p:cNvPr id="5" name="Picture 4" descr="13_vali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20265"/>
            <a:ext cx="5212080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6F8B"/>
                </a:solidFill>
                <a:latin typeface="Segoe UI"/>
              </a:rPr>
              <a:t>Najciekawszy problem: cudzysłowy w 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6B7B"/>
                </a:solidFill>
                <a:latin typeface="Segoe UI"/>
              </a:rPr>
              <a:t>wykryty rekoncyliacją dwóch niezależnych ścieżek liczenia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1">
                <a:solidFill>
                  <a:srgbClr val="1A1A2E"/>
                </a:solidFill>
                <a:latin typeface="Segoe UI"/>
              </a:rPr>
              <a:t>• Objaw: suma ofiar 324 225 vs 2 346 465 — przy IDENTYCZNEJ liczbie wierszy</a:t>
            </a:r>
          </a:p>
          <a:p>
            <a:pPr/>
            <a:r>
              <a:rPr sz="1700" b="0">
                <a:solidFill>
                  <a:srgbClr val="1A1A2E"/>
                </a:solidFill>
                <a:latin typeface="Segoe UI"/>
              </a:rPr>
              <a:t>• Root cause: ACLED eksportuje CSV z wartościami w cudzysłowach — SerDe Atheny nie zdejmuje ich z liczb: BIGINT("12") → NULL w 93% wierszy</a:t>
            </a:r>
          </a:p>
          <a:p>
            <a:pPr/>
            <a:r>
              <a:rPr sz="1700" b="0">
                <a:solidFill>
                  <a:srgbClr val="1A1A2E"/>
                </a:solidFill>
                <a:latin typeface="Segoe UI"/>
              </a:rPr>
              <a:t>• Drugi bug: job Spark castował interaction (etykieta tekstowa) do INT → NULL w 100% wierszy silvera</a:t>
            </a:r>
          </a:p>
          <a:p>
            <a:pPr/>
            <a:r>
              <a:rPr sz="1700" b="1">
                <a:solidFill>
                  <a:srgbClr val="1A1A2E"/>
                </a:solidFill>
                <a:latin typeface="Segoe UI"/>
              </a:rPr>
              <a:t>• Fix: hybryda — liczby i teksty z silvera (Spark parsuje cudzysłowy poprawnie), interaction z bronze + czyszczenie</a:t>
            </a:r>
          </a:p>
          <a:p>
            <a:pPr/>
            <a:r>
              <a:rPr sz="1700" b="0">
                <a:solidFill>
                  <a:srgbClr val="1A1A2E"/>
                </a:solidFill>
                <a:latin typeface="Segoe UI"/>
              </a:rPr>
              <a:t>• Pseudo-nulle ("" po zdjęciu cudzysłowów) → wiersz Unknown(−1) w wymiarze — zgodnie z zasadami jakości danych</a:t>
            </a:r>
          </a:p>
          <a:p>
            <a:pPr/>
            <a:r>
              <a:rPr sz="1700" b="1">
                <a:solidFill>
                  <a:srgbClr val="1A1A2E"/>
                </a:solidFill>
                <a:latin typeface="Segoe UI"/>
              </a:rPr>
              <a:t>• Wniosek systemowy: walidujemy count ORAZ sumę miary, między warstwami — nie ze snapshotem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6F8B"/>
                </a:solidFill>
                <a:latin typeface="Segoe UI"/>
              </a:rPr>
              <a:t>Warstwa semantyczna i raporty —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852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1">
                <a:solidFill>
                  <a:srgbClr val="1A1A2E"/>
                </a:solidFill>
                <a:latin typeface="Segoe UI"/>
              </a:rPr>
              <a:t>• Import gwiazdy „na płasko" (ODBC/Athena)</a:t>
            </a:r>
          </a:p>
          <a:p>
            <a:pPr/>
            <a:r>
              <a:rPr sz="1400" b="0">
                <a:solidFill>
                  <a:srgbClr val="6B6B7B"/>
                </a:solidFill>
                <a:latin typeface="Segoe UI"/>
              </a:rPr>
              <a:t>   – 7 relacji *:1 — wymiar filtruje fakt</a:t>
            </a:r>
          </a:p>
          <a:p>
            <a:pPr/>
            <a:r>
              <a:rPr sz="1400" b="0">
                <a:solidFill>
                  <a:srgbClr val="6B6B7B"/>
                </a:solidFill>
                <a:latin typeface="Segoe UI"/>
              </a:rPr>
              <a:t>   – populacja: cross-filter Both (klucz iso_year)</a:t>
            </a:r>
          </a:p>
          <a:p>
            <a:pPr/>
            <a:r>
              <a:rPr sz="1600" b="1">
                <a:solidFill>
                  <a:srgbClr val="1A1A2E"/>
                </a:solidFill>
                <a:latin typeface="Segoe UI"/>
              </a:rPr>
              <a:t>• 15 miar DAX</a:t>
            </a:r>
          </a:p>
          <a:p>
            <a:pPr/>
            <a:r>
              <a:rPr sz="1400" b="0">
                <a:solidFill>
                  <a:srgbClr val="6B6B7B"/>
                </a:solidFill>
                <a:latin typeface="Segoe UI"/>
              </a:rPr>
              <a:t>   – COUNTROWS, DIVIDE, CALCULATE, DATEADD (YoY), DISTINCTCOUNT, per-100k</a:t>
            </a:r>
          </a:p>
          <a:p>
            <a:pPr/>
            <a:r>
              <a:rPr sz="1600" b="1">
                <a:solidFill>
                  <a:srgbClr val="1A1A2E"/>
                </a:solidFill>
                <a:latin typeface="Segoe UI"/>
              </a:rPr>
              <a:t>• Hierarchie + drill-down</a:t>
            </a:r>
          </a:p>
          <a:p>
            <a:pPr/>
            <a:r>
              <a:rPr sz="1400" b="0">
                <a:solidFill>
                  <a:srgbClr val="6B6B7B"/>
                </a:solidFill>
                <a:latin typeface="Segoe UI"/>
              </a:rPr>
              <a:t>   – Rok→Kwartał→Miesiąc · Region→Kraj · Disorder→Event→Sub-event</a:t>
            </a:r>
          </a:p>
          <a:p>
            <a:pPr/>
            <a:r>
              <a:rPr sz="1400" b="0">
                <a:solidFill>
                  <a:srgbClr val="6B6B7B"/>
                </a:solidFill>
                <a:latin typeface="Segoe UI"/>
              </a:rPr>
              <a:t>   – miesiące sortowane chronologicznie, dim_date = tabela dat</a:t>
            </a:r>
          </a:p>
          <a:p>
            <a:pPr/>
            <a:r>
              <a:rPr sz="1600" b="1">
                <a:solidFill>
                  <a:srgbClr val="1A1A2E"/>
                </a:solidFill>
                <a:latin typeface="Segoe UI"/>
              </a:rPr>
              <a:t>• Raport: dashboard KPI + strona per pytanie</a:t>
            </a:r>
          </a:p>
          <a:p>
            <a:pPr/>
            <a:r>
              <a:rPr sz="1400" b="0">
                <a:solidFill>
                  <a:srgbClr val="6B6B7B"/>
                </a:solidFill>
                <a:latin typeface="Segoe UI"/>
              </a:rPr>
              <a:t>   – slicery zsynchronizowane, heatmapa, interakcje, nawigacja</a:t>
            </a:r>
          </a:p>
          <a:p>
            <a:pPr/>
            <a:r>
              <a:rPr sz="1400" b="0">
                <a:solidFill>
                  <a:srgbClr val="6B6B7B"/>
                </a:solidFill>
                <a:latin typeface="Segoe UI"/>
              </a:rPr>
              <a:t>   – jeden model odpowiada na wszystkie 12 pytań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0" y="1554480"/>
            <a:ext cx="484632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08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8288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08E45"/>
                </a:solidFill>
                <a:latin typeface="Segoe UI"/>
              </a:rPr>
              <a:t>DEMO NA ŻYWO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2377440"/>
            <a:ext cx="4297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Segoe UI"/>
              </a:rPr>
              <a:t>1. Airflow: Trigger DAG → zielony graf</a:t>
            </a:r>
          </a:p>
          <a:p>
            <a:pPr algn="l"/>
            <a:r>
              <a:rPr sz="1700" b="0">
                <a:solidFill>
                  <a:srgbClr val="1A1A2E"/>
                </a:solidFill>
                <a:latin typeface="Segoe UI"/>
              </a:rPr>
              <a:t>2. Athena: count + suma = inwariant</a:t>
            </a:r>
          </a:p>
          <a:p>
            <a:pPr algn="l"/>
            <a:r>
              <a:rPr sz="1700" b="0">
                <a:solidFill>
                  <a:srgbClr val="1A1A2E"/>
                </a:solidFill>
                <a:latin typeface="Segoe UI"/>
              </a:rPr>
              <a:t>3. Power BI: model gwiazdy,</a:t>
            </a:r>
          </a:p>
          <a:p>
            <a:pPr algn="l"/>
            <a:r>
              <a:rPr sz="1700" b="0">
                <a:solidFill>
                  <a:srgbClr val="1A1A2E"/>
                </a:solidFill>
                <a:latin typeface="Segoe UI"/>
              </a:rPr>
              <a:t>    miary DAX, drill-down, slicery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6F8B"/>
                </a:solidFill>
                <a:latin typeface="Segoe UI"/>
              </a:rPr>
              <a:t>Co mówią dane — przykładowe odpowiedzi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>
                <a:solidFill>
                  <a:srgbClr val="1A1A2E"/>
                </a:solidFill>
                <a:latin typeface="Segoe UI"/>
              </a:rPr>
              <a:t>• Najwięcej zdarzeń: Ukraina, Indie, Syria (Q1)</a:t>
            </a:r>
          </a:p>
          <a:p>
            <a:pPr/>
            <a:r>
              <a:rPr sz="1800" b="0">
                <a:solidFill>
                  <a:srgbClr val="1A1A2E"/>
                </a:solidFill>
                <a:latin typeface="Segoe UI"/>
              </a:rPr>
              <a:t>• Największa eskalacja YoY: Ukraina 2022 (+35 tys. — inwazja), Birma 2021 (+17 tys. — pucz) (Q11)</a:t>
            </a:r>
          </a:p>
          <a:p>
            <a:pPr/>
            <a:r>
              <a:rPr sz="1800" b="1">
                <a:solidFill>
                  <a:srgbClr val="1A1A2E"/>
                </a:solidFill>
                <a:latin typeface="Segoe UI"/>
              </a:rPr>
              <a:t>• Per capita odwraca ranking: Palestyna z #10 → #1 (401 zdarzeń/100 tys.), Liban #2 (Q12)</a:t>
            </a:r>
          </a:p>
          <a:p>
            <a:pPr/>
            <a:r>
              <a:rPr sz="1800" b="0">
                <a:solidFill>
                  <a:srgbClr val="1A1A2E"/>
                </a:solidFill>
                <a:latin typeface="Segoe UI"/>
              </a:rPr>
              <a:t>• Najkrwawsza interakcja: Państwo–Rebelianci — 612 tys. ofiar (Q8)</a:t>
            </a:r>
          </a:p>
          <a:p>
            <a:pPr/>
            <a:r>
              <a:rPr sz="1800" b="0">
                <a:solidFill>
                  <a:srgbClr val="1A1A2E"/>
                </a:solidFill>
                <a:latin typeface="Segoe UI"/>
              </a:rPr>
              <a:t>• Celowanie w cywilów: najwyższy odsetek Afryka Środkowa ~38%; globalnie ~16% zdarzeń (Q9)</a:t>
            </a:r>
          </a:p>
          <a:p>
            <a:pPr/>
            <a:r>
              <a:rPr sz="1800" b="0">
                <a:solidFill>
                  <a:srgbClr val="1A1A2E"/>
                </a:solidFill>
                <a:latin typeface="Segoe UI"/>
              </a:rPr>
              <a:t>• Sezonowość: szczyty marzec–czerwiec; grudzień najmniej zdarzeń, ale wysokie ofiary (Q4)</a:t>
            </a:r>
          </a:p>
          <a:p>
            <a:pPr/>
            <a:r>
              <a:rPr sz="1800" b="0">
                <a:solidFill>
                  <a:srgbClr val="1A1A2E"/>
                </a:solidFill>
                <a:latin typeface="Segoe UI"/>
              </a:rPr>
              <a:t>• Protesty pokojowe : przemoc ≈ 8:1, rosnący udział protestów od 2019 (Q6)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6F8B"/>
                </a:solidFill>
                <a:latin typeface="Segoe UI"/>
              </a:rPr>
              <a:t>Podsumowanie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1A1A2E"/>
                </a:solidFill>
                <a:latin typeface="Segoe UI"/>
              </a:rPr>
              <a:t>• Kompletny lakehouse: API → bronze → silver → gold → gwiazda → Power BI</a:t>
            </a:r>
          </a:p>
          <a:p>
            <a:pPr/>
            <a:r>
              <a:rPr sz="1800" b="0">
                <a:solidFill>
                  <a:srgbClr val="1A1A2E"/>
                </a:solidFill>
                <a:latin typeface="Segoe UI"/>
              </a:rPr>
              <a:t>• ETL zautomatyzowany (Airflow), idempotentny, samowalidujący się — uruchamialny na żywo</a:t>
            </a:r>
          </a:p>
          <a:p>
            <a:pPr/>
            <a:r>
              <a:rPr sz="1800" b="0">
                <a:solidFill>
                  <a:srgbClr val="1A1A2E"/>
                </a:solidFill>
                <a:latin typeface="Segoe UI"/>
              </a:rPr>
              <a:t>• Czysty schemat gwiazdy: klucze sztuczne, fakt = klucze+miary, Unknown za pseudo-nulle</a:t>
            </a:r>
          </a:p>
          <a:p>
            <a:pPr/>
            <a:r>
              <a:rPr sz="1800" b="0">
                <a:solidFill>
                  <a:srgbClr val="1A1A2E"/>
                </a:solidFill>
                <a:latin typeface="Segoe UI"/>
              </a:rPr>
              <a:t>• Warstwa semantyczna: 15 miar DAX, hierarchie, jeden model = 12 pytań</a:t>
            </a:r>
          </a:p>
          <a:p>
            <a:pPr/>
            <a:r>
              <a:rPr sz="1800" b="0">
                <a:solidFill>
                  <a:srgbClr val="1A1A2E"/>
                </a:solidFill>
                <a:latin typeface="Segoe UI"/>
              </a:rPr>
              <a:t>• Jakość danych: wykryte i naprawione realne bugi produkcyjne (SerDe, casty, pseudo-nulle)</a:t>
            </a:r>
          </a:p>
          <a:p>
            <a:pPr/>
            <a:r>
              <a:rPr sz="1800" b="0">
                <a:solidFill>
                  <a:srgbClr val="1A1A2E"/>
                </a:solidFill>
                <a:latin typeface="Segoe UI"/>
              </a:rPr>
              <a:t>• Wszystko w repozytorium: kod, SQL, DAG-i, dokumentacja, tabela mapowań, screeny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6F8B"/>
                </a:solidFill>
                <a:latin typeface="Segoe UI"/>
              </a:rPr>
              <a:t>Dziękujemy — zapraszamy do pytań i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